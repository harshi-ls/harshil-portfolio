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comments/comment1.xml" ContentType="application/vnd.openxmlformats-officedocument.presentationml.comments+xml"/>
  <Override PartName="/ppt/notesSlides/notesSlide1.xml" ContentType="application/vnd.openxmlformats-officedocument.presentationml.notesSlide+xml"/>
  <Override PartName="/ppt/comments/comment2.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9"/>
  </p:notesMasterIdLst>
  <p:handoutMasterIdLst>
    <p:handoutMasterId r:id="rId30"/>
  </p:handoutMasterIdLst>
  <p:sldIdLst>
    <p:sldId id="257" r:id="rId5"/>
    <p:sldId id="268"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4" r:id="rId27"/>
    <p:sldId id="295" r:id="rId2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shiii" initials="H" lastIdx="3" clrIdx="0">
    <p:extLst>
      <p:ext uri="{19B8F6BF-5375-455C-9EA6-DF929625EA0E}">
        <p15:presenceInfo xmlns:p15="http://schemas.microsoft.com/office/powerpoint/2012/main" userId="9776a4fb6ec13d5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93" autoAdjust="0"/>
  </p:normalViewPr>
  <p:slideViewPr>
    <p:cSldViewPr>
      <p:cViewPr varScale="1">
        <p:scale>
          <a:sx n="68" d="100"/>
          <a:sy n="68" d="100"/>
        </p:scale>
        <p:origin x="616" y="64"/>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ii" userId="9776a4fb6ec13d50" providerId="LiveId" clId="{2C3DFA6B-D66F-442F-AE99-CC4D98E8AEEB}"/>
    <pc:docChg chg="undo custSel addSld delSld modSld">
      <pc:chgData name="Harshiii" userId="9776a4fb6ec13d50" providerId="LiveId" clId="{2C3DFA6B-D66F-442F-AE99-CC4D98E8AEEB}" dt="2023-09-14T01:11:38.345" v="1545"/>
      <pc:docMkLst>
        <pc:docMk/>
      </pc:docMkLst>
      <pc:sldChg chg="modSp mod modTransition modAnim">
        <pc:chgData name="Harshiii" userId="9776a4fb6ec13d50" providerId="LiveId" clId="{2C3DFA6B-D66F-442F-AE99-CC4D98E8AEEB}" dt="2023-09-14T01:11:38.345" v="1545"/>
        <pc:sldMkLst>
          <pc:docMk/>
          <pc:sldMk cId="1332291891" sldId="257"/>
        </pc:sldMkLst>
        <pc:spChg chg="mod">
          <ac:chgData name="Harshiii" userId="9776a4fb6ec13d50" providerId="LiveId" clId="{2C3DFA6B-D66F-442F-AE99-CC4D98E8AEEB}" dt="2023-09-14T00:33:36.807" v="1528" actId="313"/>
          <ac:spMkLst>
            <pc:docMk/>
            <pc:sldMk cId="1332291891" sldId="257"/>
            <ac:spMk id="5" creationId="{00000000-0000-0000-0000-000000000000}"/>
          </ac:spMkLst>
        </pc:spChg>
      </pc:sldChg>
      <pc:sldChg chg="modSp mod modTransition modAnim">
        <pc:chgData name="Harshiii" userId="9776a4fb6ec13d50" providerId="LiveId" clId="{2C3DFA6B-D66F-442F-AE99-CC4D98E8AEEB}" dt="2023-09-14T01:11:38.345" v="1545"/>
        <pc:sldMkLst>
          <pc:docMk/>
          <pc:sldMk cId="3529114326" sldId="268"/>
        </pc:sldMkLst>
        <pc:spChg chg="mod">
          <ac:chgData name="Harshiii" userId="9776a4fb6ec13d50" providerId="LiveId" clId="{2C3DFA6B-D66F-442F-AE99-CC4D98E8AEEB}" dt="2023-09-13T21:01:25.214" v="1425" actId="14100"/>
          <ac:spMkLst>
            <pc:docMk/>
            <pc:sldMk cId="3529114326" sldId="268"/>
            <ac:spMk id="14" creationId="{00000000-0000-0000-0000-000000000000}"/>
          </ac:spMkLst>
        </pc:spChg>
      </pc:sldChg>
      <pc:sldChg chg="del">
        <pc:chgData name="Harshiii" userId="9776a4fb6ec13d50" providerId="LiveId" clId="{2C3DFA6B-D66F-442F-AE99-CC4D98E8AEEB}" dt="2023-09-14T00:30:01.859" v="1495" actId="47"/>
        <pc:sldMkLst>
          <pc:docMk/>
          <pc:sldMk cId="342561196" sldId="272"/>
        </pc:sldMkLst>
      </pc:sldChg>
      <pc:sldChg chg="modTransition">
        <pc:chgData name="Harshiii" userId="9776a4fb6ec13d50" providerId="LiveId" clId="{2C3DFA6B-D66F-442F-AE99-CC4D98E8AEEB}" dt="2023-09-14T01:11:38.345" v="1545"/>
        <pc:sldMkLst>
          <pc:docMk/>
          <pc:sldMk cId="622283091" sldId="273"/>
        </pc:sldMkLst>
      </pc:sldChg>
      <pc:sldChg chg="modTransition">
        <pc:chgData name="Harshiii" userId="9776a4fb6ec13d50" providerId="LiveId" clId="{2C3DFA6B-D66F-442F-AE99-CC4D98E8AEEB}" dt="2023-09-14T01:11:38.345" v="1545"/>
        <pc:sldMkLst>
          <pc:docMk/>
          <pc:sldMk cId="894594594" sldId="274"/>
        </pc:sldMkLst>
      </pc:sldChg>
      <pc:sldChg chg="modSp mod modTransition">
        <pc:chgData name="Harshiii" userId="9776a4fb6ec13d50" providerId="LiveId" clId="{2C3DFA6B-D66F-442F-AE99-CC4D98E8AEEB}" dt="2023-09-14T01:11:38.345" v="1545"/>
        <pc:sldMkLst>
          <pc:docMk/>
          <pc:sldMk cId="4077378094" sldId="275"/>
        </pc:sldMkLst>
        <pc:spChg chg="mod">
          <ac:chgData name="Harshiii" userId="9776a4fb6ec13d50" providerId="LiveId" clId="{2C3DFA6B-D66F-442F-AE99-CC4D98E8AEEB}" dt="2023-09-13T20:37:47.544" v="1001" actId="14100"/>
          <ac:spMkLst>
            <pc:docMk/>
            <pc:sldMk cId="4077378094" sldId="275"/>
            <ac:spMk id="3" creationId="{4BEFDDCE-706F-F611-A297-BA743AEC2CC1}"/>
          </ac:spMkLst>
        </pc:spChg>
      </pc:sldChg>
      <pc:sldChg chg="modSp mod modTransition">
        <pc:chgData name="Harshiii" userId="9776a4fb6ec13d50" providerId="LiveId" clId="{2C3DFA6B-D66F-442F-AE99-CC4D98E8AEEB}" dt="2023-09-14T01:11:38.345" v="1545"/>
        <pc:sldMkLst>
          <pc:docMk/>
          <pc:sldMk cId="589734880" sldId="276"/>
        </pc:sldMkLst>
        <pc:spChg chg="mod">
          <ac:chgData name="Harshiii" userId="9776a4fb6ec13d50" providerId="LiveId" clId="{2C3DFA6B-D66F-442F-AE99-CC4D98E8AEEB}" dt="2023-09-13T20:41:19.512" v="1111" actId="115"/>
          <ac:spMkLst>
            <pc:docMk/>
            <pc:sldMk cId="589734880" sldId="276"/>
            <ac:spMk id="3" creationId="{1C095125-4300-4ABD-A7E2-4FC9A0260808}"/>
          </ac:spMkLst>
        </pc:spChg>
      </pc:sldChg>
      <pc:sldChg chg="modSp mod modTransition">
        <pc:chgData name="Harshiii" userId="9776a4fb6ec13d50" providerId="LiveId" clId="{2C3DFA6B-D66F-442F-AE99-CC4D98E8AEEB}" dt="2023-09-14T01:11:38.345" v="1545"/>
        <pc:sldMkLst>
          <pc:docMk/>
          <pc:sldMk cId="489246834" sldId="277"/>
        </pc:sldMkLst>
        <pc:spChg chg="mod">
          <ac:chgData name="Harshiii" userId="9776a4fb6ec13d50" providerId="LiveId" clId="{2C3DFA6B-D66F-442F-AE99-CC4D98E8AEEB}" dt="2023-09-13T21:21:21.769" v="1492" actId="20577"/>
          <ac:spMkLst>
            <pc:docMk/>
            <pc:sldMk cId="489246834" sldId="277"/>
            <ac:spMk id="2" creationId="{808601BB-8D50-1229-571C-8DFC982EA98E}"/>
          </ac:spMkLst>
        </pc:spChg>
      </pc:sldChg>
      <pc:sldChg chg="modSp mod modTransition addCm modNotesTx">
        <pc:chgData name="Harshiii" userId="9776a4fb6ec13d50" providerId="LiveId" clId="{2C3DFA6B-D66F-442F-AE99-CC4D98E8AEEB}" dt="2023-09-14T01:11:38.345" v="1545"/>
        <pc:sldMkLst>
          <pc:docMk/>
          <pc:sldMk cId="4225776149" sldId="278"/>
        </pc:sldMkLst>
        <pc:spChg chg="mod">
          <ac:chgData name="Harshiii" userId="9776a4fb6ec13d50" providerId="LiveId" clId="{2C3DFA6B-D66F-442F-AE99-CC4D98E8AEEB}" dt="2023-09-13T13:59:10.983" v="305" actId="20577"/>
          <ac:spMkLst>
            <pc:docMk/>
            <pc:sldMk cId="4225776149" sldId="278"/>
            <ac:spMk id="3" creationId="{F9538EC0-A43F-F106-2245-A9E6258C6B98}"/>
          </ac:spMkLst>
        </pc:spChg>
      </pc:sldChg>
      <pc:sldChg chg="addSp modSp new mod modTransition">
        <pc:chgData name="Harshiii" userId="9776a4fb6ec13d50" providerId="LiveId" clId="{2C3DFA6B-D66F-442F-AE99-CC4D98E8AEEB}" dt="2023-09-14T01:11:38.345" v="1545"/>
        <pc:sldMkLst>
          <pc:docMk/>
          <pc:sldMk cId="2450673292" sldId="279"/>
        </pc:sldMkLst>
        <pc:spChg chg="add mod">
          <ac:chgData name="Harshiii" userId="9776a4fb6ec13d50" providerId="LiveId" clId="{2C3DFA6B-D66F-442F-AE99-CC4D98E8AEEB}" dt="2023-09-12T22:54:16.951" v="31" actId="115"/>
          <ac:spMkLst>
            <pc:docMk/>
            <pc:sldMk cId="2450673292" sldId="279"/>
            <ac:spMk id="2" creationId="{F5813038-D4F5-F77C-1847-E7CEBDD30E71}"/>
          </ac:spMkLst>
        </pc:spChg>
      </pc:sldChg>
      <pc:sldChg chg="addSp modSp new mod modTransition">
        <pc:chgData name="Harshiii" userId="9776a4fb6ec13d50" providerId="LiveId" clId="{2C3DFA6B-D66F-442F-AE99-CC4D98E8AEEB}" dt="2023-09-14T01:11:38.345" v="1545"/>
        <pc:sldMkLst>
          <pc:docMk/>
          <pc:sldMk cId="2673379479" sldId="280"/>
        </pc:sldMkLst>
        <pc:spChg chg="add mod">
          <ac:chgData name="Harshiii" userId="9776a4fb6ec13d50" providerId="LiveId" clId="{2C3DFA6B-D66F-442F-AE99-CC4D98E8AEEB}" dt="2023-09-12T22:58:00.484" v="85" actId="113"/>
          <ac:spMkLst>
            <pc:docMk/>
            <pc:sldMk cId="2673379479" sldId="280"/>
            <ac:spMk id="2" creationId="{F4B63250-776D-BF10-E11B-BFD90E3A473F}"/>
          </ac:spMkLst>
        </pc:spChg>
      </pc:sldChg>
      <pc:sldChg chg="addSp delSp modSp new mod modTransition">
        <pc:chgData name="Harshiii" userId="9776a4fb6ec13d50" providerId="LiveId" clId="{2C3DFA6B-D66F-442F-AE99-CC4D98E8AEEB}" dt="2023-09-14T01:11:38.345" v="1545"/>
        <pc:sldMkLst>
          <pc:docMk/>
          <pc:sldMk cId="4160145543" sldId="281"/>
        </pc:sldMkLst>
        <pc:spChg chg="add del mod">
          <ac:chgData name="Harshiii" userId="9776a4fb6ec13d50" providerId="LiveId" clId="{2C3DFA6B-D66F-442F-AE99-CC4D98E8AEEB}" dt="2023-09-12T22:58:44.880" v="90"/>
          <ac:spMkLst>
            <pc:docMk/>
            <pc:sldMk cId="4160145543" sldId="281"/>
            <ac:spMk id="2" creationId="{B73F20D8-AE1D-3D93-7580-427C4FD82735}"/>
          </ac:spMkLst>
        </pc:spChg>
        <pc:spChg chg="add del mod">
          <ac:chgData name="Harshiii" userId="9776a4fb6ec13d50" providerId="LiveId" clId="{2C3DFA6B-D66F-442F-AE99-CC4D98E8AEEB}" dt="2023-09-13T12:37:32.128" v="93"/>
          <ac:spMkLst>
            <pc:docMk/>
            <pc:sldMk cId="4160145543" sldId="281"/>
            <ac:spMk id="3" creationId="{F58F9AE4-38EF-6C8B-20F4-48E26FE37517}"/>
          </ac:spMkLst>
        </pc:spChg>
        <pc:spChg chg="add mod">
          <ac:chgData name="Harshiii" userId="9776a4fb6ec13d50" providerId="LiveId" clId="{2C3DFA6B-D66F-442F-AE99-CC4D98E8AEEB}" dt="2023-09-13T22:10:14.800" v="1494" actId="20577"/>
          <ac:spMkLst>
            <pc:docMk/>
            <pc:sldMk cId="4160145543" sldId="281"/>
            <ac:spMk id="4" creationId="{49915A4A-4B1A-FE21-C41D-C164E5C62847}"/>
          </ac:spMkLst>
        </pc:spChg>
      </pc:sldChg>
      <pc:sldChg chg="addSp modSp new mod modTransition">
        <pc:chgData name="Harshiii" userId="9776a4fb6ec13d50" providerId="LiveId" clId="{2C3DFA6B-D66F-442F-AE99-CC4D98E8AEEB}" dt="2023-09-14T01:11:38.345" v="1545"/>
        <pc:sldMkLst>
          <pc:docMk/>
          <pc:sldMk cId="3914301420" sldId="282"/>
        </pc:sldMkLst>
        <pc:spChg chg="add mod">
          <ac:chgData name="Harshiii" userId="9776a4fb6ec13d50" providerId="LiveId" clId="{2C3DFA6B-D66F-442F-AE99-CC4D98E8AEEB}" dt="2023-09-13T13:45:01.497" v="274" actId="14100"/>
          <ac:spMkLst>
            <pc:docMk/>
            <pc:sldMk cId="3914301420" sldId="282"/>
            <ac:spMk id="2" creationId="{8E8B9945-22B2-0F4E-67E0-5CCDD1A8E8EE}"/>
          </ac:spMkLst>
        </pc:spChg>
      </pc:sldChg>
      <pc:sldChg chg="addSp modSp new mod modTransition">
        <pc:chgData name="Harshiii" userId="9776a4fb6ec13d50" providerId="LiveId" clId="{2C3DFA6B-D66F-442F-AE99-CC4D98E8AEEB}" dt="2023-09-14T01:11:38.345" v="1545"/>
        <pc:sldMkLst>
          <pc:docMk/>
          <pc:sldMk cId="2509430015" sldId="283"/>
        </pc:sldMkLst>
        <pc:spChg chg="add mod">
          <ac:chgData name="Harshiii" userId="9776a4fb6ec13d50" providerId="LiveId" clId="{2C3DFA6B-D66F-442F-AE99-CC4D98E8AEEB}" dt="2023-09-13T13:45:50.188" v="281" actId="115"/>
          <ac:spMkLst>
            <pc:docMk/>
            <pc:sldMk cId="2509430015" sldId="283"/>
            <ac:spMk id="2" creationId="{951EA51E-EB39-2346-EC3C-F8DD530D726B}"/>
          </ac:spMkLst>
        </pc:spChg>
      </pc:sldChg>
      <pc:sldChg chg="addSp delSp modSp new mod modTransition">
        <pc:chgData name="Harshiii" userId="9776a4fb6ec13d50" providerId="LiveId" clId="{2C3DFA6B-D66F-442F-AE99-CC4D98E8AEEB}" dt="2023-09-14T01:11:38.345" v="1545"/>
        <pc:sldMkLst>
          <pc:docMk/>
          <pc:sldMk cId="1326111363" sldId="284"/>
        </pc:sldMkLst>
        <pc:spChg chg="add del mod">
          <ac:chgData name="Harshiii" userId="9776a4fb6ec13d50" providerId="LiveId" clId="{2C3DFA6B-D66F-442F-AE99-CC4D98E8AEEB}" dt="2023-09-13T13:35:13.157" v="200"/>
          <ac:spMkLst>
            <pc:docMk/>
            <pc:sldMk cId="1326111363" sldId="284"/>
            <ac:spMk id="2" creationId="{3E078AAF-D05E-EEF0-E2F1-7E5D90EBCA7B}"/>
          </ac:spMkLst>
        </pc:spChg>
        <pc:picChg chg="add del mod">
          <ac:chgData name="Harshiii" userId="9776a4fb6ec13d50" providerId="LiveId" clId="{2C3DFA6B-D66F-442F-AE99-CC4D98E8AEEB}" dt="2023-09-13T13:34:57.856" v="197" actId="931"/>
          <ac:picMkLst>
            <pc:docMk/>
            <pc:sldMk cId="1326111363" sldId="284"/>
            <ac:picMk id="4" creationId="{B82542F6-F50A-4D1B-EAB1-5F4B9BDA03AA}"/>
          </ac:picMkLst>
        </pc:picChg>
        <pc:picChg chg="add del mod">
          <ac:chgData name="Harshiii" userId="9776a4fb6ec13d50" providerId="LiveId" clId="{2C3DFA6B-D66F-442F-AE99-CC4D98E8AEEB}" dt="2023-09-13T13:38:26.121" v="203" actId="478"/>
          <ac:picMkLst>
            <pc:docMk/>
            <pc:sldMk cId="1326111363" sldId="284"/>
            <ac:picMk id="6" creationId="{A728F524-02D8-ED67-E16F-2AEACDE3F6A3}"/>
          </ac:picMkLst>
        </pc:picChg>
        <pc:picChg chg="add mod">
          <ac:chgData name="Harshiii" userId="9776a4fb6ec13d50" providerId="LiveId" clId="{2C3DFA6B-D66F-442F-AE99-CC4D98E8AEEB}" dt="2023-09-13T13:45:29.795" v="277" actId="1076"/>
          <ac:picMkLst>
            <pc:docMk/>
            <pc:sldMk cId="1326111363" sldId="284"/>
            <ac:picMk id="8" creationId="{531CA985-95DA-8E9E-E376-75DD2D7E21DF}"/>
          </ac:picMkLst>
        </pc:picChg>
        <pc:picChg chg="add mod">
          <ac:chgData name="Harshiii" userId="9776a4fb6ec13d50" providerId="LiveId" clId="{2C3DFA6B-D66F-442F-AE99-CC4D98E8AEEB}" dt="2023-09-13T13:45:38.243" v="279" actId="1076"/>
          <ac:picMkLst>
            <pc:docMk/>
            <pc:sldMk cId="1326111363" sldId="284"/>
            <ac:picMk id="10" creationId="{CFAEE4AB-0F26-4EA7-D4C2-1A15B4F2976F}"/>
          </ac:picMkLst>
        </pc:picChg>
      </pc:sldChg>
      <pc:sldChg chg="modSp new mod">
        <pc:chgData name="Harshiii" userId="9776a4fb6ec13d50" providerId="LiveId" clId="{2C3DFA6B-D66F-442F-AE99-CC4D98E8AEEB}" dt="2023-09-13T14:06:04.144" v="418" actId="27636"/>
        <pc:sldMkLst>
          <pc:docMk/>
          <pc:sldMk cId="2039763578" sldId="285"/>
        </pc:sldMkLst>
        <pc:spChg chg="mod">
          <ac:chgData name="Harshiii" userId="9776a4fb6ec13d50" providerId="LiveId" clId="{2C3DFA6B-D66F-442F-AE99-CC4D98E8AEEB}" dt="2023-09-13T14:00:43.616" v="352" actId="20577"/>
          <ac:spMkLst>
            <pc:docMk/>
            <pc:sldMk cId="2039763578" sldId="285"/>
            <ac:spMk id="2" creationId="{43F36E54-1325-7013-9E29-FCF9E5A490B2}"/>
          </ac:spMkLst>
        </pc:spChg>
        <pc:spChg chg="mod">
          <ac:chgData name="Harshiii" userId="9776a4fb6ec13d50" providerId="LiveId" clId="{2C3DFA6B-D66F-442F-AE99-CC4D98E8AEEB}" dt="2023-09-13T14:06:04.144" v="418" actId="27636"/>
          <ac:spMkLst>
            <pc:docMk/>
            <pc:sldMk cId="2039763578" sldId="285"/>
            <ac:spMk id="3" creationId="{268209E3-381F-55A4-735D-ABEC6EFC751B}"/>
          </ac:spMkLst>
        </pc:spChg>
      </pc:sldChg>
      <pc:sldChg chg="new del">
        <pc:chgData name="Harshiii" userId="9776a4fb6ec13d50" providerId="LiveId" clId="{2C3DFA6B-D66F-442F-AE99-CC4D98E8AEEB}" dt="2023-09-13T14:00:01.537" v="307" actId="680"/>
        <pc:sldMkLst>
          <pc:docMk/>
          <pc:sldMk cId="3434059012" sldId="285"/>
        </pc:sldMkLst>
      </pc:sldChg>
      <pc:sldChg chg="new del">
        <pc:chgData name="Harshiii" userId="9776a4fb6ec13d50" providerId="LiveId" clId="{2C3DFA6B-D66F-442F-AE99-CC4D98E8AEEB}" dt="2023-09-13T14:06:34.640" v="420" actId="680"/>
        <pc:sldMkLst>
          <pc:docMk/>
          <pc:sldMk cId="2221333518" sldId="286"/>
        </pc:sldMkLst>
      </pc:sldChg>
      <pc:sldChg chg="addSp modSp new mod">
        <pc:chgData name="Harshiii" userId="9776a4fb6ec13d50" providerId="LiveId" clId="{2C3DFA6B-D66F-442F-AE99-CC4D98E8AEEB}" dt="2023-09-13T14:10:17.868" v="543" actId="20577"/>
        <pc:sldMkLst>
          <pc:docMk/>
          <pc:sldMk cId="3721645115" sldId="286"/>
        </pc:sldMkLst>
        <pc:spChg chg="add mod">
          <ac:chgData name="Harshiii" userId="9776a4fb6ec13d50" providerId="LiveId" clId="{2C3DFA6B-D66F-442F-AE99-CC4D98E8AEEB}" dt="2023-09-13T14:10:17.868" v="543" actId="20577"/>
          <ac:spMkLst>
            <pc:docMk/>
            <pc:sldMk cId="3721645115" sldId="286"/>
            <ac:spMk id="2" creationId="{0EA9BF82-C50B-73E2-3091-930726F409A1}"/>
          </ac:spMkLst>
        </pc:spChg>
      </pc:sldChg>
      <pc:sldChg chg="addSp modSp new mod">
        <pc:chgData name="Harshiii" userId="9776a4fb6ec13d50" providerId="LiveId" clId="{2C3DFA6B-D66F-442F-AE99-CC4D98E8AEEB}" dt="2023-09-13T20:26:50.239" v="675" actId="115"/>
        <pc:sldMkLst>
          <pc:docMk/>
          <pc:sldMk cId="2371763537" sldId="287"/>
        </pc:sldMkLst>
        <pc:spChg chg="add mod">
          <ac:chgData name="Harshiii" userId="9776a4fb6ec13d50" providerId="LiveId" clId="{2C3DFA6B-D66F-442F-AE99-CC4D98E8AEEB}" dt="2023-09-13T20:26:50.239" v="675" actId="115"/>
          <ac:spMkLst>
            <pc:docMk/>
            <pc:sldMk cId="2371763537" sldId="287"/>
            <ac:spMk id="2" creationId="{2D1727A9-88DF-D026-36C8-C5E01C0B6C27}"/>
          </ac:spMkLst>
        </pc:spChg>
      </pc:sldChg>
      <pc:sldChg chg="addSp modSp new mod">
        <pc:chgData name="Harshiii" userId="9776a4fb6ec13d50" providerId="LiveId" clId="{2C3DFA6B-D66F-442F-AE99-CC4D98E8AEEB}" dt="2023-09-13T20:29:43.688" v="780" actId="20577"/>
        <pc:sldMkLst>
          <pc:docMk/>
          <pc:sldMk cId="965979158" sldId="288"/>
        </pc:sldMkLst>
        <pc:spChg chg="add mod">
          <ac:chgData name="Harshiii" userId="9776a4fb6ec13d50" providerId="LiveId" clId="{2C3DFA6B-D66F-442F-AE99-CC4D98E8AEEB}" dt="2023-09-13T20:29:43.688" v="780" actId="20577"/>
          <ac:spMkLst>
            <pc:docMk/>
            <pc:sldMk cId="965979158" sldId="288"/>
            <ac:spMk id="2" creationId="{50FAC73D-35F9-6D50-0701-755DC24C2187}"/>
          </ac:spMkLst>
        </pc:spChg>
      </pc:sldChg>
      <pc:sldChg chg="addSp delSp modSp new mod">
        <pc:chgData name="Harshiii" userId="9776a4fb6ec13d50" providerId="LiveId" clId="{2C3DFA6B-D66F-442F-AE99-CC4D98E8AEEB}" dt="2023-09-13T20:33:07.024" v="882" actId="20577"/>
        <pc:sldMkLst>
          <pc:docMk/>
          <pc:sldMk cId="3845175861" sldId="289"/>
        </pc:sldMkLst>
        <pc:spChg chg="add del mod">
          <ac:chgData name="Harshiii" userId="9776a4fb6ec13d50" providerId="LiveId" clId="{2C3DFA6B-D66F-442F-AE99-CC4D98E8AEEB}" dt="2023-09-13T20:30:30.098" v="785"/>
          <ac:spMkLst>
            <pc:docMk/>
            <pc:sldMk cId="3845175861" sldId="289"/>
            <ac:spMk id="2" creationId="{FF11EACE-6EEB-DFB5-7A37-50A4EE136A5C}"/>
          </ac:spMkLst>
        </pc:spChg>
        <pc:spChg chg="add mod">
          <ac:chgData name="Harshiii" userId="9776a4fb6ec13d50" providerId="LiveId" clId="{2C3DFA6B-D66F-442F-AE99-CC4D98E8AEEB}" dt="2023-09-13T20:33:07.024" v="882" actId="20577"/>
          <ac:spMkLst>
            <pc:docMk/>
            <pc:sldMk cId="3845175861" sldId="289"/>
            <ac:spMk id="3" creationId="{2739DAD6-1DEE-EDB5-8FEE-1FE886452402}"/>
          </ac:spMkLst>
        </pc:spChg>
      </pc:sldChg>
      <pc:sldChg chg="addSp modSp new mod">
        <pc:chgData name="Harshiii" userId="9776a4fb6ec13d50" providerId="LiveId" clId="{2C3DFA6B-D66F-442F-AE99-CC4D98E8AEEB}" dt="2023-09-13T20:36:42.671" v="997" actId="20577"/>
        <pc:sldMkLst>
          <pc:docMk/>
          <pc:sldMk cId="3532291651" sldId="290"/>
        </pc:sldMkLst>
        <pc:spChg chg="add mod">
          <ac:chgData name="Harshiii" userId="9776a4fb6ec13d50" providerId="LiveId" clId="{2C3DFA6B-D66F-442F-AE99-CC4D98E8AEEB}" dt="2023-09-13T20:36:42.671" v="997" actId="20577"/>
          <ac:spMkLst>
            <pc:docMk/>
            <pc:sldMk cId="3532291651" sldId="290"/>
            <ac:spMk id="2" creationId="{19428004-79D3-A30D-132D-EF0AE5D78015}"/>
          </ac:spMkLst>
        </pc:spChg>
      </pc:sldChg>
      <pc:sldChg chg="addSp modSp new mod">
        <pc:chgData name="Harshiii" userId="9776a4fb6ec13d50" providerId="LiveId" clId="{2C3DFA6B-D66F-442F-AE99-CC4D98E8AEEB}" dt="2023-09-13T20:48:00.572" v="1266" actId="20577"/>
        <pc:sldMkLst>
          <pc:docMk/>
          <pc:sldMk cId="1974002" sldId="291"/>
        </pc:sldMkLst>
        <pc:spChg chg="add mod">
          <ac:chgData name="Harshiii" userId="9776a4fb6ec13d50" providerId="LiveId" clId="{2C3DFA6B-D66F-442F-AE99-CC4D98E8AEEB}" dt="2023-09-13T20:48:00.572" v="1266" actId="20577"/>
          <ac:spMkLst>
            <pc:docMk/>
            <pc:sldMk cId="1974002" sldId="291"/>
            <ac:spMk id="2" creationId="{56960D25-829C-27C5-2933-37AD494F2E7C}"/>
          </ac:spMkLst>
        </pc:spChg>
        <pc:spChg chg="add mod">
          <ac:chgData name="Harshiii" userId="9776a4fb6ec13d50" providerId="LiveId" clId="{2C3DFA6B-D66F-442F-AE99-CC4D98E8AEEB}" dt="2023-09-13T20:45:14.539" v="1140" actId="571"/>
          <ac:spMkLst>
            <pc:docMk/>
            <pc:sldMk cId="1974002" sldId="291"/>
            <ac:spMk id="3" creationId="{070AFFB1-6AED-EEDC-6097-57AF3E01F5A2}"/>
          </ac:spMkLst>
        </pc:spChg>
      </pc:sldChg>
      <pc:sldChg chg="addSp modSp new mod">
        <pc:chgData name="Harshiii" userId="9776a4fb6ec13d50" providerId="LiveId" clId="{2C3DFA6B-D66F-442F-AE99-CC4D98E8AEEB}" dt="2023-09-13T20:50:57.871" v="1381" actId="20577"/>
        <pc:sldMkLst>
          <pc:docMk/>
          <pc:sldMk cId="156095601" sldId="292"/>
        </pc:sldMkLst>
        <pc:spChg chg="add mod">
          <ac:chgData name="Harshiii" userId="9776a4fb6ec13d50" providerId="LiveId" clId="{2C3DFA6B-D66F-442F-AE99-CC4D98E8AEEB}" dt="2023-09-13T20:50:57.871" v="1381" actId="20577"/>
          <ac:spMkLst>
            <pc:docMk/>
            <pc:sldMk cId="156095601" sldId="292"/>
            <ac:spMk id="2" creationId="{70B59815-DE78-9671-7EEA-24430DB0749E}"/>
          </ac:spMkLst>
        </pc:spChg>
      </pc:sldChg>
      <pc:sldChg chg="addSp delSp modSp new del">
        <pc:chgData name="Harshiii" userId="9776a4fb6ec13d50" providerId="LiveId" clId="{2C3DFA6B-D66F-442F-AE99-CC4D98E8AEEB}" dt="2023-09-13T20:52:49.892" v="1398" actId="47"/>
        <pc:sldMkLst>
          <pc:docMk/>
          <pc:sldMk cId="2186385934" sldId="293"/>
        </pc:sldMkLst>
        <pc:spChg chg="add del mod">
          <ac:chgData name="Harshiii" userId="9776a4fb6ec13d50" providerId="LiveId" clId="{2C3DFA6B-D66F-442F-AE99-CC4D98E8AEEB}" dt="2023-09-13T20:52:12.379" v="1384" actId="767"/>
          <ac:spMkLst>
            <pc:docMk/>
            <pc:sldMk cId="2186385934" sldId="293"/>
            <ac:spMk id="2" creationId="{E31DCE57-D7C6-0298-4D5C-3258FB49DAA7}"/>
          </ac:spMkLst>
        </pc:spChg>
      </pc:sldChg>
      <pc:sldChg chg="modSp new mod">
        <pc:chgData name="Harshiii" userId="9776a4fb6ec13d50" providerId="LiveId" clId="{2C3DFA6B-D66F-442F-AE99-CC4D98E8AEEB}" dt="2023-09-13T20:52:36.534" v="1397" actId="27636"/>
        <pc:sldMkLst>
          <pc:docMk/>
          <pc:sldMk cId="2389802422" sldId="294"/>
        </pc:sldMkLst>
        <pc:spChg chg="mod">
          <ac:chgData name="Harshiii" userId="9776a4fb6ec13d50" providerId="LiveId" clId="{2C3DFA6B-D66F-442F-AE99-CC4D98E8AEEB}" dt="2023-09-13T20:52:19.495" v="1392" actId="20577"/>
          <ac:spMkLst>
            <pc:docMk/>
            <pc:sldMk cId="2389802422" sldId="294"/>
            <ac:spMk id="2" creationId="{2E5A6564-8559-980F-FE5C-321C7CE56A7B}"/>
          </ac:spMkLst>
        </pc:spChg>
        <pc:spChg chg="mod">
          <ac:chgData name="Harshiii" userId="9776a4fb6ec13d50" providerId="LiveId" clId="{2C3DFA6B-D66F-442F-AE99-CC4D98E8AEEB}" dt="2023-09-13T20:52:36.534" v="1397" actId="27636"/>
          <ac:spMkLst>
            <pc:docMk/>
            <pc:sldMk cId="2389802422" sldId="294"/>
            <ac:spMk id="3" creationId="{1A10A147-9BBD-5631-31E2-E9EEF178FC94}"/>
          </ac:spMkLst>
        </pc:spChg>
      </pc:sldChg>
      <pc:sldChg chg="modSp new mod">
        <pc:chgData name="Harshiii" userId="9776a4fb6ec13d50" providerId="LiveId" clId="{2C3DFA6B-D66F-442F-AE99-CC4D98E8AEEB}" dt="2023-09-13T20:53:45.261" v="1416" actId="122"/>
        <pc:sldMkLst>
          <pc:docMk/>
          <pc:sldMk cId="3162350457" sldId="295"/>
        </pc:sldMkLst>
        <pc:spChg chg="mod">
          <ac:chgData name="Harshiii" userId="9776a4fb6ec13d50" providerId="LiveId" clId="{2C3DFA6B-D66F-442F-AE99-CC4D98E8AEEB}" dt="2023-09-13T20:53:45.261" v="1416" actId="122"/>
          <ac:spMkLst>
            <pc:docMk/>
            <pc:sldMk cId="3162350457" sldId="295"/>
            <ac:spMk id="2" creationId="{5A61CBD6-A8AF-15F0-C87C-267AC7786802}"/>
          </ac:spMkLst>
        </pc:spChg>
        <pc:spChg chg="mod">
          <ac:chgData name="Harshiii" userId="9776a4fb6ec13d50" providerId="LiveId" clId="{2C3DFA6B-D66F-442F-AE99-CC4D98E8AEEB}" dt="2023-09-13T20:53:31.931" v="1404" actId="5793"/>
          <ac:spMkLst>
            <pc:docMk/>
            <pc:sldMk cId="3162350457" sldId="295"/>
            <ac:spMk id="3" creationId="{3849198A-8DC9-7EFD-6024-12887E00669F}"/>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3-09-12T13:25:56.918" idx="1">
    <p:pos x="10" y="10"/>
    <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09-14T01:40:19.438" idx="2">
    <p:pos x="10" y="10"/>
    <p:text/>
    <p:extLst>
      <p:ext uri="{C676402C-5697-4E1C-873F-D02D1690AC5C}">
        <p15:threadingInfo xmlns:p15="http://schemas.microsoft.com/office/powerpoint/2012/main" timeZoneBias="-60"/>
      </p:ext>
    </p:extLst>
  </p:cm>
  <p:cm authorId="1" dt="2023-09-14T01:40:22.285" idx="3">
    <p:pos x="146" y="146"/>
    <p:text/>
    <p:extLst>
      <p:ext uri="{C676402C-5697-4E1C-873F-D02D1690AC5C}">
        <p15:threadingInfo xmlns:p15="http://schemas.microsoft.com/office/powerpoint/2012/main" timeZoneBias="-6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9/14/2023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9/14/2023</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8EAED"/>
                </a:solidFill>
                <a:effectLst/>
                <a:latin typeface="Google Sans"/>
              </a:rPr>
              <a:t>Smishing is </a:t>
            </a:r>
            <a:r>
              <a:rPr lang="en-US" b="0" i="0" dirty="0">
                <a:solidFill>
                  <a:srgbClr val="E2EEFF"/>
                </a:solidFill>
                <a:effectLst/>
                <a:latin typeface="Google Sans"/>
              </a:rPr>
              <a:t>a social engineering attack that uses fake mobile text messages to trick people into downloading malware, sharing sensitive information, or sending money to cybercriminals</a:t>
            </a:r>
            <a:r>
              <a:rPr lang="en-US" b="0" i="0" dirty="0">
                <a:solidFill>
                  <a:srgbClr val="E8EAED"/>
                </a:solidFill>
                <a:effectLst/>
                <a:latin typeface="Google Sans"/>
              </a:rPr>
              <a:t>.</a:t>
            </a:r>
          </a:p>
          <a:p>
            <a:r>
              <a:rPr lang="en-US" dirty="0"/>
              <a:t>Baiting is a social engineering technique where attackers offer </a:t>
            </a:r>
          </a:p>
          <a:p>
            <a:r>
              <a:rPr lang="en-US" dirty="0"/>
              <a:t>something alluring, such a free download, to entice targets into </a:t>
            </a:r>
          </a:p>
          <a:p>
            <a:r>
              <a:rPr lang="en-US" dirty="0"/>
              <a:t>completing an operation that compromises their security. Human interest </a:t>
            </a:r>
          </a:p>
          <a:p>
            <a:r>
              <a:rPr lang="en-US" dirty="0"/>
              <a:t>or a desire for something important are the usual draws for the bait.</a:t>
            </a:r>
          </a:p>
          <a:p>
            <a:r>
              <a:rPr lang="en-US" b="0" i="0" dirty="0">
                <a:solidFill>
                  <a:srgbClr val="E8EAED"/>
                </a:solidFill>
                <a:effectLst/>
                <a:latin typeface="Google Sans"/>
              </a:rPr>
              <a:t>Vishing (voice or VoIP phishing) is </a:t>
            </a:r>
            <a:r>
              <a:rPr lang="en-US" b="0" i="0" dirty="0">
                <a:solidFill>
                  <a:srgbClr val="E2EEFF"/>
                </a:solidFill>
                <a:effectLst/>
                <a:latin typeface="Google Sans"/>
              </a:rPr>
              <a:t>a type of cyber attack that uses voice and telephony technologies to trick targeted individuals into revealing sensitive data to unauthorized entities</a:t>
            </a:r>
            <a:r>
              <a:rPr lang="en-US" b="0" i="0" dirty="0">
                <a:solidFill>
                  <a:srgbClr val="E8EAED"/>
                </a:solidFill>
                <a:effectLst/>
                <a:latin typeface="Google Sans"/>
              </a:rPr>
              <a:t>.</a:t>
            </a:r>
          </a:p>
        </p:txBody>
      </p:sp>
      <p:sp>
        <p:nvSpPr>
          <p:cNvPr id="4" name="Slide Number Placeholder 3"/>
          <p:cNvSpPr>
            <a:spLocks noGrp="1"/>
          </p:cNvSpPr>
          <p:nvPr>
            <p:ph type="sldNum" sz="quarter" idx="5"/>
          </p:nvPr>
        </p:nvSpPr>
        <p:spPr/>
        <p:txBody>
          <a:bodyPr/>
          <a:lstStyle/>
          <a:p>
            <a:fld id="{3EBA5BD7-F043-4D1B-AA17-CD412FC534DE}" type="slidenum">
              <a:rPr lang="en-IN" smtClean="0"/>
              <a:t>8</a:t>
            </a:fld>
            <a:endParaRPr lang="en-IN"/>
          </a:p>
        </p:txBody>
      </p:sp>
    </p:spTree>
    <p:extLst>
      <p:ext uri="{BB962C8B-B14F-4D97-AF65-F5344CB8AC3E}">
        <p14:creationId xmlns:p14="http://schemas.microsoft.com/office/powerpoint/2010/main" val="2748824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9/14/2023</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9/14/2023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9/14/2023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9/14/2023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9/14/2023</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9/14/2023</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9/14/2023</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9/14/2023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9/14/2023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9/14/2023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9/14/2023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9/14/2023</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omments" Target="../comments/commen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HUMAN FACTORS IN CYBER SECURITY</a:t>
            </a:r>
          </a:p>
        </p:txBody>
      </p:sp>
      <p:sp>
        <p:nvSpPr>
          <p:cNvPr id="5" name="Subtitle 4"/>
          <p:cNvSpPr>
            <a:spLocks noGrp="1"/>
          </p:cNvSpPr>
          <p:nvPr>
            <p:ph type="subTitle" idx="1"/>
          </p:nvPr>
        </p:nvSpPr>
        <p:spPr/>
        <p:txBody>
          <a:bodyPr/>
          <a:lstStyle/>
          <a:p>
            <a:r>
              <a:rPr lang="en-US" dirty="0"/>
              <a:t>HARSHIL KANAKA MADATHIL</a:t>
            </a:r>
          </a:p>
          <a:p>
            <a:r>
              <a:rPr lang="en-US" dirty="0"/>
              <a:t>P2753548</a:t>
            </a:r>
          </a:p>
          <a:p>
            <a:r>
              <a:rPr lang="en-US" dirty="0"/>
              <a:t>MSc</a:t>
            </a:r>
            <a:r>
              <a:rPr lang="en-US" cap="none" dirty="0"/>
              <a:t> CYBER SECURITY</a:t>
            </a:r>
            <a:endParaRPr lang="en-US" dirty="0"/>
          </a:p>
        </p:txBody>
      </p:sp>
    </p:spTree>
    <p:custDataLst>
      <p:tags r:id="rId1"/>
    </p:custDataLst>
    <p:extLst>
      <p:ext uri="{BB962C8B-B14F-4D97-AF65-F5344CB8AC3E}">
        <p14:creationId xmlns:p14="http://schemas.microsoft.com/office/powerpoint/2010/main" val="1332291891"/>
      </p:ext>
    </p:extLst>
  </p:cSld>
  <p:clrMapOvr>
    <a:masterClrMapping/>
  </p:clrMapOvr>
  <p:transition spd="slow" advTm="11672">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iterate type="lt">
                                    <p:tmAbs val="25"/>
                                  </p:iterate>
                                  <p:childTnLst>
                                    <p:set>
                                      <p:cBhvr override="childStyle">
                                        <p:cTn id="6" dur="indefinite"/>
                                        <p:tgtEl>
                                          <p:spTgt spid="2"/>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500"/>
                                        <p:tgtEl>
                                          <p:spTgt spid="5">
                                            <p:txEl>
                                              <p:pRg st="1" end="1"/>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218883" y="274637"/>
            <a:ext cx="10360501" cy="562075"/>
          </a:xfrm>
        </p:spPr>
        <p:txBody>
          <a:bodyPr>
            <a:normAutofit/>
          </a:bodyPr>
          <a:lstStyle/>
          <a:p>
            <a:r>
              <a:rPr lang="en-US" sz="3200" dirty="0"/>
              <a:t>INTRODUCTION</a:t>
            </a:r>
          </a:p>
        </p:txBody>
      </p:sp>
      <p:sp>
        <p:nvSpPr>
          <p:cNvPr id="14" name="Content Placeholder 13"/>
          <p:cNvSpPr>
            <a:spLocks noGrp="1"/>
          </p:cNvSpPr>
          <p:nvPr>
            <p:ph idx="1"/>
          </p:nvPr>
        </p:nvSpPr>
        <p:spPr>
          <a:xfrm>
            <a:off x="1218883" y="1124745"/>
            <a:ext cx="10360501" cy="4752528"/>
          </a:xfrm>
        </p:spPr>
        <p:txBody>
          <a:bodyPr>
            <a:noAutofit/>
          </a:bodyPr>
          <a:lstStyle/>
          <a:p>
            <a:pPr marL="0" indent="0">
              <a:buNone/>
            </a:pPr>
            <a:r>
              <a:rPr lang="en-US" sz="2000" dirty="0"/>
              <a:t>Innovations in technology and the growing complexity of cyber threats cause a </a:t>
            </a:r>
          </a:p>
          <a:p>
            <a:pPr marL="0" indent="0">
              <a:buNone/>
            </a:pPr>
            <a:r>
              <a:rPr lang="en-US" sz="2000" dirty="0"/>
              <a:t>constant evolution in the cybersecurity scene. Human behavior, psychology, and </a:t>
            </a:r>
          </a:p>
          <a:p>
            <a:pPr marL="0" indent="0">
              <a:buNone/>
            </a:pPr>
            <a:r>
              <a:rPr lang="en-US" sz="2000" dirty="0"/>
              <a:t>cognitive processes have a significant role in developing cybersecurity practices, </a:t>
            </a:r>
          </a:p>
          <a:p>
            <a:pPr marL="0" indent="0">
              <a:buNone/>
            </a:pPr>
            <a:r>
              <a:rPr lang="en-US" sz="2000" dirty="0"/>
              <a:t>even though technology solutions are still necessary. Examining "human factors </a:t>
            </a:r>
          </a:p>
          <a:p>
            <a:pPr marL="0" indent="0">
              <a:buNone/>
            </a:pPr>
            <a:r>
              <a:rPr lang="en-US" sz="2000" dirty="0"/>
              <a:t>in cybersecurity" and how they affect information security protocols is the focus </a:t>
            </a:r>
          </a:p>
          <a:p>
            <a:pPr marL="0" indent="0">
              <a:buNone/>
            </a:pPr>
            <a:r>
              <a:rPr lang="en-US" sz="2000" dirty="0"/>
              <a:t>of this abstract. With the recognition that people are a major factor in establishing </a:t>
            </a:r>
          </a:p>
          <a:p>
            <a:pPr marL="0" indent="0">
              <a:buNone/>
            </a:pPr>
            <a:r>
              <a:rPr lang="en-US" sz="2000" dirty="0"/>
              <a:t>an organization's cybersecurity posture, this research attempts to develop tactics </a:t>
            </a:r>
          </a:p>
          <a:p>
            <a:pPr marL="0" indent="0">
              <a:buNone/>
            </a:pPr>
            <a:r>
              <a:rPr lang="en-US" sz="2000" dirty="0"/>
              <a:t>that take into account decision-making, human vulnerabilities, and relationships</a:t>
            </a:r>
          </a:p>
          <a:p>
            <a:pPr marL="0" indent="0">
              <a:buNone/>
            </a:pPr>
            <a:r>
              <a:rPr lang="en-US" sz="2000" dirty="0"/>
              <a:t>with technology. The objective of this research is to enhance safety measures, </a:t>
            </a:r>
          </a:p>
          <a:p>
            <a:pPr marL="0" indent="0">
              <a:buNone/>
            </a:pPr>
            <a:r>
              <a:rPr lang="en-US" sz="2000" dirty="0"/>
              <a:t>reduce security breaches, and reinforce defenses against the dynamic cyber threat </a:t>
            </a:r>
          </a:p>
          <a:p>
            <a:pPr marL="0" indent="0">
              <a:buNone/>
            </a:pPr>
            <a:r>
              <a:rPr lang="en-US" sz="2000" dirty="0"/>
              <a:t>landscape. It places a particular focus on the importance of user awareness, </a:t>
            </a:r>
          </a:p>
          <a:p>
            <a:pPr marL="0" indent="0">
              <a:buNone/>
            </a:pPr>
            <a:r>
              <a:rPr lang="en-US" sz="2000" dirty="0"/>
              <a:t>training, and organizational culture in creating a security-conscious workplace</a:t>
            </a: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mc:Choice xmlns:p14="http://schemas.microsoft.com/office/powerpoint/2010/main" Requires="p14">
      <p:transition spd="med" p14:dur="700" advTm="39574">
        <p:fade/>
      </p:transition>
    </mc:Choice>
    <mc:Fallback>
      <p:transition spd="med" advTm="39574">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5D05-5CDF-D0D8-041F-CF7020901CBE}"/>
              </a:ext>
            </a:extLst>
          </p:cNvPr>
          <p:cNvSpPr>
            <a:spLocks noGrp="1"/>
          </p:cNvSpPr>
          <p:nvPr>
            <p:ph type="title"/>
          </p:nvPr>
        </p:nvSpPr>
        <p:spPr/>
        <p:txBody>
          <a:bodyPr/>
          <a:lstStyle/>
          <a:p>
            <a:r>
              <a:rPr lang="en-IN" dirty="0"/>
              <a:t>RESEARCH MOTIVE</a:t>
            </a:r>
          </a:p>
        </p:txBody>
      </p:sp>
      <p:sp>
        <p:nvSpPr>
          <p:cNvPr id="3" name="Content Placeholder 2">
            <a:extLst>
              <a:ext uri="{FF2B5EF4-FFF2-40B4-BE49-F238E27FC236}">
                <a16:creationId xmlns:a16="http://schemas.microsoft.com/office/drawing/2014/main" id="{F57DFE43-17EF-A9AD-E355-744D33DD8EF2}"/>
              </a:ext>
            </a:extLst>
          </p:cNvPr>
          <p:cNvSpPr>
            <a:spLocks noGrp="1"/>
          </p:cNvSpPr>
          <p:nvPr>
            <p:ph idx="1"/>
          </p:nvPr>
        </p:nvSpPr>
        <p:spPr/>
        <p:txBody>
          <a:bodyPr>
            <a:normAutofit/>
          </a:bodyPr>
          <a:lstStyle/>
          <a:p>
            <a:pPr marL="0" indent="0">
              <a:buNone/>
            </a:pPr>
            <a:r>
              <a:rPr lang="en-US" sz="2000" dirty="0">
                <a:solidFill>
                  <a:srgbClr val="D1D5DB"/>
                </a:solidFill>
              </a:rPr>
              <a:t>E</a:t>
            </a:r>
            <a:r>
              <a:rPr lang="en-US" sz="2000" b="0" i="0" dirty="0">
                <a:solidFill>
                  <a:srgbClr val="D1D5DB"/>
                </a:solidFill>
                <a:effectLst/>
              </a:rPr>
              <a:t>stablish a profound understanding of how human behavior, cognition, and decision-making processes influence information security. The research on human aspects of cybersecurity aims to enhance the effectiveness of security strategies and practices by addressing various human factors and issues related to cybersecurity. Some specific objectives of the research include:</a:t>
            </a:r>
          </a:p>
          <a:p>
            <a:r>
              <a:rPr lang="en-US" sz="2000" b="0" i="0" dirty="0">
                <a:solidFill>
                  <a:srgbClr val="D1D5DB"/>
                </a:solidFill>
                <a:effectLst/>
              </a:rPr>
              <a:t>Recognizing the influence of human behavior on cybersecurity: The research seeks to delve into individual attitudes, perceptions, and decision-making processes and their impact on cybersecurity norms. It aims to understand the psychological and cognitive elements contributing to secure or insecure behaviors in the digital realm.</a:t>
            </a:r>
          </a:p>
          <a:p>
            <a:r>
              <a:rPr lang="en-US" sz="2000" b="0" i="0" dirty="0">
                <a:solidFill>
                  <a:srgbClr val="D1D5DB"/>
                </a:solidFill>
                <a:effectLst/>
              </a:rPr>
              <a:t>Detecting vulnerabilities with an emphasis on humans: The objective here is to scrutinize information systems and cybersecurity procedures for vulnerabilities stemming from human behavior. The goal is to identify gaps in cybersecurity defenses that could be exploited due to insider threats, social engineering, or human errors, and then develop targeted strategies to bolster cybersecurity defenses.</a:t>
            </a:r>
            <a:endParaRPr lang="en-US" sz="2000" dirty="0">
              <a:solidFill>
                <a:srgbClr val="D1D5DB"/>
              </a:solidFill>
            </a:endParaRPr>
          </a:p>
          <a:p>
            <a:endParaRPr lang="en-IN" sz="2000" dirty="0"/>
          </a:p>
        </p:txBody>
      </p:sp>
    </p:spTree>
    <p:extLst>
      <p:ext uri="{BB962C8B-B14F-4D97-AF65-F5344CB8AC3E}">
        <p14:creationId xmlns:p14="http://schemas.microsoft.com/office/powerpoint/2010/main" val="622283091"/>
      </p:ext>
    </p:extLst>
  </p:cSld>
  <p:clrMapOvr>
    <a:masterClrMapping/>
  </p:clrMapOvr>
  <mc:AlternateContent xmlns:mc="http://schemas.openxmlformats.org/markup-compatibility/2006">
    <mc:Choice xmlns:p14="http://schemas.microsoft.com/office/powerpoint/2010/main" Requires="p14">
      <p:transition spd="med" p14:dur="700" advTm="59513">
        <p:fade/>
      </p:transition>
    </mc:Choice>
    <mc:Fallback>
      <p:transition spd="med" advTm="59513">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64F07-B4C8-1BD5-1D97-560E1723E614}"/>
              </a:ext>
            </a:extLst>
          </p:cNvPr>
          <p:cNvSpPr>
            <a:spLocks noGrp="1"/>
          </p:cNvSpPr>
          <p:nvPr>
            <p:ph type="title"/>
          </p:nvPr>
        </p:nvSpPr>
        <p:spPr/>
        <p:txBody>
          <a:bodyPr/>
          <a:lstStyle/>
          <a:p>
            <a:r>
              <a:rPr lang="en-IN" dirty="0"/>
              <a:t>RESEARCH MOTIVE (CONT..)</a:t>
            </a:r>
          </a:p>
        </p:txBody>
      </p:sp>
      <p:sp>
        <p:nvSpPr>
          <p:cNvPr id="3" name="Content Placeholder 2">
            <a:extLst>
              <a:ext uri="{FF2B5EF4-FFF2-40B4-BE49-F238E27FC236}">
                <a16:creationId xmlns:a16="http://schemas.microsoft.com/office/drawing/2014/main" id="{35ADEF84-C7CA-5AA7-D19A-3ADC88E434BD}"/>
              </a:ext>
            </a:extLst>
          </p:cNvPr>
          <p:cNvSpPr>
            <a:spLocks noGrp="1"/>
          </p:cNvSpPr>
          <p:nvPr>
            <p:ph idx="1"/>
          </p:nvPr>
        </p:nvSpPr>
        <p:spPr/>
        <p:txBody>
          <a:bodyPr>
            <a:normAutofit fontScale="85000" lnSpcReduction="10000"/>
          </a:bodyPr>
          <a:lstStyle/>
          <a:p>
            <a:r>
              <a:rPr lang="en-US" b="0" i="0" dirty="0">
                <a:solidFill>
                  <a:srgbClr val="D1D5DB"/>
                </a:solidFill>
                <a:effectLst/>
              </a:rPr>
              <a:t>Evaluation of security awareness and training programs' effectiveness: The research aims to assess the impact of cybersecurity awareness and training programs on users' retention of security best practices and overall knowledge.</a:t>
            </a:r>
          </a:p>
          <a:p>
            <a:r>
              <a:rPr lang="en-US" b="0" i="0" dirty="0">
                <a:solidFill>
                  <a:srgbClr val="D1D5DB"/>
                </a:solidFill>
                <a:effectLst/>
              </a:rPr>
              <a:t>Analyzing human errors and misconfigurations: This objective focuses on understanding the types and frequency of human errors, misconfigurations, and unintentional actions leading to cybersecurity incidents.</a:t>
            </a:r>
            <a:endParaRPr lang="en-US" dirty="0">
              <a:solidFill>
                <a:srgbClr val="D1D5DB"/>
              </a:solidFill>
            </a:endParaRPr>
          </a:p>
          <a:p>
            <a:r>
              <a:rPr lang="en-US" b="0" i="0" dirty="0">
                <a:solidFill>
                  <a:srgbClr val="D1D5DB"/>
                </a:solidFill>
                <a:effectLst/>
              </a:rPr>
              <a:t>Countering social engineering attacks: The research aims to explore how cybercriminals exploit human vulnerabilities by examining their techniques.</a:t>
            </a:r>
          </a:p>
          <a:p>
            <a:r>
              <a:rPr lang="en-US" b="0" i="0" dirty="0">
                <a:solidFill>
                  <a:srgbClr val="D1D5DB"/>
                </a:solidFill>
                <a:effectLst/>
              </a:rPr>
              <a:t>Creating a cybersecurity-aware culture: The primary goal is to explore ways to make organizations and the general public more aware of cybersecurity issues, fostering a sense of responsibility for maintaining a secure digital environment.</a:t>
            </a:r>
            <a:endParaRPr lang="en-IN" dirty="0"/>
          </a:p>
        </p:txBody>
      </p:sp>
    </p:spTree>
    <p:extLst>
      <p:ext uri="{BB962C8B-B14F-4D97-AF65-F5344CB8AC3E}">
        <p14:creationId xmlns:p14="http://schemas.microsoft.com/office/powerpoint/2010/main" val="894594594"/>
      </p:ext>
    </p:extLst>
  </p:cSld>
  <p:clrMapOvr>
    <a:masterClrMapping/>
  </p:clrMapOvr>
  <mc:AlternateContent xmlns:mc="http://schemas.openxmlformats.org/markup-compatibility/2006">
    <mc:Choice xmlns:p14="http://schemas.microsoft.com/office/powerpoint/2010/main" Requires="p14">
      <p:transition spd="med" p14:dur="700" advTm="71901">
        <p:fade/>
      </p:transition>
    </mc:Choice>
    <mc:Fallback>
      <p:transition spd="med" advTm="7190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9F449-07DC-9298-8501-B28D8D8428F0}"/>
              </a:ext>
            </a:extLst>
          </p:cNvPr>
          <p:cNvSpPr>
            <a:spLocks noGrp="1"/>
          </p:cNvSpPr>
          <p:nvPr>
            <p:ph type="title"/>
          </p:nvPr>
        </p:nvSpPr>
        <p:spPr>
          <a:xfrm>
            <a:off x="1218883" y="274637"/>
            <a:ext cx="10360501" cy="778099"/>
          </a:xfrm>
        </p:spPr>
        <p:txBody>
          <a:bodyPr/>
          <a:lstStyle/>
          <a:p>
            <a:r>
              <a:rPr lang="en-IN" dirty="0"/>
              <a:t>ROLE OF SOCIAL ENGINEERING IN CYBER SECURITY</a:t>
            </a:r>
          </a:p>
        </p:txBody>
      </p:sp>
      <p:sp>
        <p:nvSpPr>
          <p:cNvPr id="3" name="Content Placeholder 2">
            <a:extLst>
              <a:ext uri="{FF2B5EF4-FFF2-40B4-BE49-F238E27FC236}">
                <a16:creationId xmlns:a16="http://schemas.microsoft.com/office/drawing/2014/main" id="{4BEFDDCE-706F-F611-A297-BA743AEC2CC1}"/>
              </a:ext>
            </a:extLst>
          </p:cNvPr>
          <p:cNvSpPr>
            <a:spLocks noGrp="1"/>
          </p:cNvSpPr>
          <p:nvPr>
            <p:ph idx="1"/>
          </p:nvPr>
        </p:nvSpPr>
        <p:spPr>
          <a:xfrm>
            <a:off x="1218883" y="1268761"/>
            <a:ext cx="10780185" cy="4968552"/>
          </a:xfrm>
        </p:spPr>
        <p:txBody>
          <a:bodyPr>
            <a:noAutofit/>
          </a:bodyPr>
          <a:lstStyle/>
          <a:p>
            <a:pPr marL="0" indent="0">
              <a:buNone/>
            </a:pPr>
            <a:r>
              <a:rPr lang="en-US" sz="2000" dirty="0"/>
              <a:t>The concept of governing people by using false pretenses is not a unique concept. </a:t>
            </a:r>
          </a:p>
          <a:p>
            <a:pPr marL="0" indent="0">
              <a:buNone/>
            </a:pPr>
            <a:r>
              <a:rPr lang="en-US" sz="2000" dirty="0"/>
              <a:t>Even before the invention of modern technology, the art of social engineering has </a:t>
            </a:r>
          </a:p>
          <a:p>
            <a:pPr marL="0" indent="0">
              <a:buNone/>
            </a:pPr>
            <a:r>
              <a:rPr lang="en-US" sz="2000" dirty="0"/>
              <a:t>existed. The tale of the Trojan horse's journey during the Greek-Trojan conflict is </a:t>
            </a:r>
          </a:p>
          <a:p>
            <a:pPr marL="0" indent="0">
              <a:buNone/>
            </a:pPr>
            <a:r>
              <a:rPr lang="en-US" sz="2000" dirty="0"/>
              <a:t>among the most widely remembered events in the history of ancient Greece. The </a:t>
            </a:r>
          </a:p>
          <a:p>
            <a:pPr marL="0" indent="0">
              <a:buNone/>
            </a:pPr>
            <a:r>
              <a:rPr lang="en-US" sz="2000" dirty="0"/>
              <a:t>defensive fortifications of Troy were extremely difficult for the Greeks to </a:t>
            </a:r>
          </a:p>
          <a:p>
            <a:pPr marL="0" indent="0">
              <a:buNone/>
            </a:pPr>
            <a:r>
              <a:rPr lang="en-US" sz="2000" dirty="0"/>
              <a:t>penetrate, so they employed deceit in this mythical story. . They built a huge </a:t>
            </a:r>
          </a:p>
          <a:p>
            <a:pPr marL="0" indent="0">
              <a:buNone/>
            </a:pPr>
            <a:r>
              <a:rPr lang="en-US" sz="2000" dirty="0"/>
              <a:t>wooden horse and concealed the most talented warriors inside of it before leaving </a:t>
            </a:r>
          </a:p>
          <a:p>
            <a:pPr marL="0" indent="0">
              <a:buNone/>
            </a:pPr>
            <a:r>
              <a:rPr lang="en-US" sz="2000" dirty="0"/>
              <a:t>it at Troy's gates as a purported peace gift. The horse was delivered to the </a:t>
            </a:r>
          </a:p>
          <a:p>
            <a:pPr marL="0" indent="0">
              <a:buNone/>
            </a:pPr>
            <a:r>
              <a:rPr lang="en-US" sz="2000" dirty="0"/>
              <a:t>inhabitants of the Trojans, who took it as a gift. Trojans had been taken over by </a:t>
            </a:r>
          </a:p>
          <a:p>
            <a:pPr marL="0" indent="0">
              <a:buNone/>
            </a:pPr>
            <a:r>
              <a:rPr lang="en-US" sz="2000" dirty="0"/>
              <a:t>the Greek army shortly after they emerged at night and opened the city's gates for </a:t>
            </a:r>
          </a:p>
          <a:p>
            <a:pPr marL="0" indent="0">
              <a:buNone/>
            </a:pPr>
            <a:r>
              <a:rPr lang="en-US" sz="2000" dirty="0"/>
              <a:t>the remaining members of them.</a:t>
            </a:r>
            <a:endParaRPr lang="en-IN" sz="2000" dirty="0"/>
          </a:p>
        </p:txBody>
      </p:sp>
    </p:spTree>
    <p:extLst>
      <p:ext uri="{BB962C8B-B14F-4D97-AF65-F5344CB8AC3E}">
        <p14:creationId xmlns:p14="http://schemas.microsoft.com/office/powerpoint/2010/main" val="4077378094"/>
      </p:ext>
    </p:extLst>
  </p:cSld>
  <p:clrMapOvr>
    <a:masterClrMapping/>
  </p:clrMapOvr>
  <mc:AlternateContent xmlns:mc="http://schemas.openxmlformats.org/markup-compatibility/2006">
    <mc:Choice xmlns:p14="http://schemas.microsoft.com/office/powerpoint/2010/main" Requires="p14">
      <p:transition spd="med" p14:dur="700" advTm="139811">
        <p:fade/>
      </p:transition>
    </mc:Choice>
    <mc:Fallback>
      <p:transition spd="med" advTm="13981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095125-4300-4ABD-A7E2-4FC9A0260808}"/>
              </a:ext>
            </a:extLst>
          </p:cNvPr>
          <p:cNvSpPr txBox="1"/>
          <p:nvPr/>
        </p:nvSpPr>
        <p:spPr>
          <a:xfrm flipH="1">
            <a:off x="1269876" y="1124744"/>
            <a:ext cx="10297144" cy="5324535"/>
          </a:xfrm>
          <a:prstGeom prst="rect">
            <a:avLst/>
          </a:prstGeom>
          <a:noFill/>
        </p:spPr>
        <p:txBody>
          <a:bodyPr wrap="square" rtlCol="0">
            <a:spAutoFit/>
          </a:bodyPr>
          <a:lstStyle/>
          <a:p>
            <a:pPr lvl="5"/>
            <a:r>
              <a:rPr lang="en-US" sz="3200" b="1" i="0" dirty="0">
                <a:solidFill>
                  <a:srgbClr val="D1D5DB"/>
                </a:solidFill>
                <a:effectLst/>
                <a:latin typeface="Söhne"/>
              </a:rPr>
              <a:t>SOCIAL ENGINEERING</a:t>
            </a:r>
          </a:p>
          <a:p>
            <a:endParaRPr lang="en-US" sz="2000" dirty="0">
              <a:solidFill>
                <a:srgbClr val="D1D5DB"/>
              </a:solidFill>
              <a:latin typeface="Söhne"/>
            </a:endParaRPr>
          </a:p>
          <a:p>
            <a:r>
              <a:rPr lang="en-US" sz="2000" b="0" i="0" dirty="0">
                <a:solidFill>
                  <a:srgbClr val="D1D5DB"/>
                </a:solidFill>
                <a:effectLst/>
                <a:latin typeface="Söhne"/>
              </a:rPr>
              <a:t>Social engineering is a sophisticated technique that leverages the psychological manipulation of individuals, compelling them to undertake specific actions or disclose sensitive information. At its core, this method exploits human vulnerabilities, tapping into emotions, trust, and cognitive biases rather than relying on technical hacking strategies. While many might associate social engineering with face-to-face deception, such as someone impersonating an IT technician to gain physical access to a facility, its reach extends far beyond. In the digital age, social engineering has evolved to exploit the vast interconnectedness of the online world. Cyber attackers craft deceptive emails, design counterfeit websites, and even create fake social media profiles, all with the intent of deceiving their targets. These digital tactics, often termed as phishing, baiting, or pretexting, are designed to instill a sense of trust, urgency, or fear in the victim. For instance, an attacker might send an email posing as a bank, urging the recipient to click on a link and update their account details, only for that link to lead to a malicious website designed to harvest personal data. Social Engineering attacks can divided into two: Technology Based Attacks and Human Based Attacks. </a:t>
            </a:r>
            <a:endParaRPr lang="en-IN" sz="2800" dirty="0"/>
          </a:p>
        </p:txBody>
      </p:sp>
    </p:spTree>
    <p:extLst>
      <p:ext uri="{BB962C8B-B14F-4D97-AF65-F5344CB8AC3E}">
        <p14:creationId xmlns:p14="http://schemas.microsoft.com/office/powerpoint/2010/main" val="589734880"/>
      </p:ext>
    </p:extLst>
  </p:cSld>
  <p:clrMapOvr>
    <a:masterClrMapping/>
  </p:clrMapOvr>
  <mc:AlternateContent xmlns:mc="http://schemas.openxmlformats.org/markup-compatibility/2006">
    <mc:Choice xmlns:p14="http://schemas.microsoft.com/office/powerpoint/2010/main" Requires="p14">
      <p:transition spd="med" p14:dur="700" advTm="106716">
        <p:fade/>
      </p:transition>
    </mc:Choice>
    <mc:Fallback>
      <p:transition spd="med" advTm="106716">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601BB-8D50-1229-571C-8DFC982EA98E}"/>
              </a:ext>
            </a:extLst>
          </p:cNvPr>
          <p:cNvSpPr txBox="1"/>
          <p:nvPr/>
        </p:nvSpPr>
        <p:spPr>
          <a:xfrm>
            <a:off x="1125860" y="836712"/>
            <a:ext cx="10009112" cy="6093976"/>
          </a:xfrm>
          <a:prstGeom prst="rect">
            <a:avLst/>
          </a:prstGeom>
          <a:noFill/>
        </p:spPr>
        <p:txBody>
          <a:bodyPr wrap="square" rtlCol="0">
            <a:spAutoFit/>
          </a:bodyPr>
          <a:lstStyle/>
          <a:p>
            <a:r>
              <a:rPr lang="en-IN" sz="2800" b="1" dirty="0"/>
              <a:t>		SOCIAL ENGINEERING(CONT….)</a:t>
            </a:r>
          </a:p>
          <a:p>
            <a:r>
              <a:rPr lang="en-IN" sz="2800" b="1" u="sng" dirty="0"/>
              <a:t>HUMAN BASED ATTACKS</a:t>
            </a:r>
          </a:p>
          <a:p>
            <a:r>
              <a:rPr lang="en-US" sz="1800" dirty="0"/>
              <a:t>Human-based social engineering attacks use psychological methods to trick </a:t>
            </a:r>
          </a:p>
          <a:p>
            <a:r>
              <a:rPr lang="en-US" sz="1800" dirty="0"/>
              <a:t>people into disclosing confidential data or taking security-compromising acts. </a:t>
            </a:r>
          </a:p>
          <a:p>
            <a:r>
              <a:rPr lang="en-US" sz="1800" dirty="0"/>
              <a:t>Human-based social engineering focuses more of an emphasis on interactions </a:t>
            </a:r>
          </a:p>
          <a:p>
            <a:r>
              <a:rPr lang="en-US" sz="1800" dirty="0"/>
              <a:t>with people and </a:t>
            </a:r>
            <a:r>
              <a:rPr lang="en-US" sz="1800" dirty="0" err="1"/>
              <a:t>behavioural</a:t>
            </a:r>
            <a:r>
              <a:rPr lang="en-US" sz="1800" dirty="0"/>
              <a:t> vulnerabilities than automated attacks, who just </a:t>
            </a:r>
          </a:p>
          <a:p>
            <a:r>
              <a:rPr lang="en-US" sz="1800" dirty="0" err="1"/>
              <a:t>utilise</a:t>
            </a:r>
            <a:r>
              <a:rPr lang="en-US" sz="1800" dirty="0"/>
              <a:t> methods for hacking. To earn the victim's trust or produce urgency, </a:t>
            </a:r>
          </a:p>
          <a:p>
            <a:r>
              <a:rPr lang="en-US" sz="1800" dirty="0"/>
              <a:t>attackers can resort to a variety of strategies, including impersonation, </a:t>
            </a:r>
          </a:p>
          <a:p>
            <a:r>
              <a:rPr lang="en-US" sz="1800" dirty="0"/>
              <a:t>manipulation of emotions, or use of authoritative cues. </a:t>
            </a:r>
          </a:p>
          <a:p>
            <a:r>
              <a:rPr lang="en-US" sz="2800" b="1" u="sng" dirty="0"/>
              <a:t>TECHNOLOGY BASED ATTACKS</a:t>
            </a:r>
          </a:p>
          <a:p>
            <a:r>
              <a:rPr lang="en-US" sz="1800" dirty="0"/>
              <a:t>Technology-based social engineering attacks use technology platforms as the </a:t>
            </a:r>
          </a:p>
          <a:p>
            <a:r>
              <a:rPr lang="en-US" sz="1800" dirty="0"/>
              <a:t>primary conduit to trick people into revealing private information or carrying </a:t>
            </a:r>
          </a:p>
          <a:p>
            <a:r>
              <a:rPr lang="en-US" sz="1800" dirty="0"/>
              <a:t>out specific </a:t>
            </a:r>
            <a:r>
              <a:rPr lang="en-US" sz="1800" dirty="0" err="1"/>
              <a:t>behaviours</a:t>
            </a:r>
            <a:r>
              <a:rPr lang="en-US" sz="1800" dirty="0"/>
              <a:t> that violate security. These assaults frequently use </a:t>
            </a:r>
          </a:p>
          <a:p>
            <a:r>
              <a:rPr lang="en-US" sz="1800" dirty="0"/>
              <a:t>digital platforms like emails, social media, or fake websites, compared to </a:t>
            </a:r>
          </a:p>
          <a:p>
            <a:r>
              <a:rPr lang="en-US" sz="1800" dirty="0"/>
              <a:t>conventional methods of social engineering, which may only rely on </a:t>
            </a:r>
          </a:p>
          <a:p>
            <a:r>
              <a:rPr lang="en-US" sz="1800" dirty="0"/>
              <a:t>interpersonal relationships. In order to take advantage of people's psychological </a:t>
            </a:r>
          </a:p>
          <a:p>
            <a:r>
              <a:rPr lang="en-US" sz="1800" dirty="0"/>
              <a:t>preferences for authority and trust, cyber attackers create probable </a:t>
            </a:r>
          </a:p>
          <a:p>
            <a:r>
              <a:rPr lang="en-US" sz="1800" dirty="0"/>
              <a:t>circumstances or assume the real identities of reliable individuals. The final </a:t>
            </a:r>
          </a:p>
          <a:p>
            <a:r>
              <a:rPr lang="en-US" sz="1800" dirty="0"/>
              <a:t>objective is to collect sensitive information, spread malware, or get </a:t>
            </a:r>
          </a:p>
          <a:p>
            <a:r>
              <a:rPr lang="en-US" sz="1800" dirty="0" err="1"/>
              <a:t>unauthorised</a:t>
            </a:r>
            <a:r>
              <a:rPr lang="en-US" sz="1800" dirty="0"/>
              <a:t> access</a:t>
            </a:r>
            <a:endParaRPr lang="en-IN" sz="1800" dirty="0"/>
          </a:p>
        </p:txBody>
      </p:sp>
    </p:spTree>
    <p:extLst>
      <p:ext uri="{BB962C8B-B14F-4D97-AF65-F5344CB8AC3E}">
        <p14:creationId xmlns:p14="http://schemas.microsoft.com/office/powerpoint/2010/main" val="489246834"/>
      </p:ext>
    </p:extLst>
  </p:cSld>
  <p:clrMapOvr>
    <a:masterClrMapping/>
  </p:clrMapOvr>
  <mc:AlternateContent xmlns:mc="http://schemas.openxmlformats.org/markup-compatibility/2006">
    <mc:Choice xmlns:p14="http://schemas.microsoft.com/office/powerpoint/2010/main" Requires="p14">
      <p:transition spd="med" p14:dur="700" advTm="39245">
        <p:fade/>
      </p:transition>
    </mc:Choice>
    <mc:Fallback>
      <p:transition spd="med" advTm="39245">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538EC0-A43F-F106-2245-A9E6258C6B98}"/>
              </a:ext>
            </a:extLst>
          </p:cNvPr>
          <p:cNvSpPr txBox="1"/>
          <p:nvPr/>
        </p:nvSpPr>
        <p:spPr>
          <a:xfrm>
            <a:off x="1125860" y="836712"/>
            <a:ext cx="10513168" cy="5632311"/>
          </a:xfrm>
          <a:prstGeom prst="rect">
            <a:avLst/>
          </a:prstGeom>
          <a:noFill/>
        </p:spPr>
        <p:txBody>
          <a:bodyPr wrap="square" rtlCol="0">
            <a:spAutoFit/>
          </a:bodyPr>
          <a:lstStyle/>
          <a:p>
            <a:r>
              <a:rPr lang="en-IN" sz="2000" u="sng" dirty="0"/>
              <a:t>TECHNOLOGY BASED ATTACKS</a:t>
            </a:r>
          </a:p>
          <a:p>
            <a:pPr marL="342900" indent="-342900">
              <a:buFont typeface="Arial" panose="020B0604020202020204" pitchFamily="34" charset="0"/>
              <a:buChar char="•"/>
            </a:pPr>
            <a:r>
              <a:rPr lang="en-IN" sz="2000" dirty="0"/>
              <a:t>Mobile Based: Quick Response(QR) Code, Smishing</a:t>
            </a:r>
          </a:p>
          <a:p>
            <a:pPr marL="342900" indent="-342900">
              <a:buFont typeface="Arial" panose="020B0604020202020204" pitchFamily="34" charset="0"/>
              <a:buChar char="•"/>
            </a:pPr>
            <a:r>
              <a:rPr lang="en-IN" sz="2000" dirty="0"/>
              <a:t>Computer Based : Baiting, Email Phishing</a:t>
            </a:r>
          </a:p>
          <a:p>
            <a:r>
              <a:rPr lang="en-IN" sz="2000" u="sng" dirty="0"/>
              <a:t>HUMAN BASED ATTACKS</a:t>
            </a:r>
          </a:p>
          <a:p>
            <a:pPr marL="342900" indent="-342900">
              <a:buFont typeface="Arial" panose="020B0604020202020204" pitchFamily="34" charset="0"/>
              <a:buChar char="•"/>
            </a:pPr>
            <a:r>
              <a:rPr lang="en-IN" sz="2000" dirty="0"/>
              <a:t>Voice Based : Fraud/Scam, Vishing</a:t>
            </a:r>
          </a:p>
          <a:p>
            <a:pPr marL="342900" indent="-342900">
              <a:buFont typeface="Arial" panose="020B0604020202020204" pitchFamily="34" charset="0"/>
              <a:buChar char="•"/>
            </a:pPr>
            <a:r>
              <a:rPr lang="en-IN" sz="2000" dirty="0"/>
              <a:t>Physical: Attacks at Console, Impersonation</a:t>
            </a:r>
          </a:p>
          <a:p>
            <a:endParaRPr lang="en-IN" sz="2000" dirty="0"/>
          </a:p>
          <a:p>
            <a:r>
              <a:rPr lang="en-IN" sz="2000" b="1" u="sng" dirty="0"/>
              <a:t>KEVIN MITNICKS SOCIAL ENGINEERING ATTACK CYCLE</a:t>
            </a:r>
          </a:p>
          <a:p>
            <a:endParaRPr lang="en-IN" sz="2000" b="1" u="sng" dirty="0"/>
          </a:p>
          <a:p>
            <a:endParaRPr lang="en-IN" sz="2000" b="1" u="sng" dirty="0"/>
          </a:p>
          <a:p>
            <a:endParaRPr lang="en-IN" sz="2000" b="1" u="sng" dirty="0"/>
          </a:p>
          <a:p>
            <a:endParaRPr lang="en-IN" sz="2000" b="1" u="sng" dirty="0"/>
          </a:p>
          <a:p>
            <a:endParaRPr lang="en-IN" sz="2000" b="1" u="sng" dirty="0"/>
          </a:p>
          <a:p>
            <a:r>
              <a:rPr lang="en-IN" sz="2000" dirty="0"/>
              <a:t>	       </a:t>
            </a:r>
            <a:r>
              <a:rPr lang="en-US" sz="1600" dirty="0"/>
              <a:t>Kevin Mitnick’s Social Engineering Attack </a:t>
            </a:r>
            <a:r>
              <a:rPr lang="en-US" sz="1600" dirty="0" err="1"/>
              <a:t>Cycl</a:t>
            </a:r>
            <a:r>
              <a:rPr lang="en-IN" sz="1600" dirty="0"/>
              <a:t>e</a:t>
            </a:r>
            <a:r>
              <a:rPr lang="en-IN" sz="1200" dirty="0"/>
              <a:t>(Hussain </a:t>
            </a:r>
            <a:r>
              <a:rPr lang="en-IN" sz="1200" dirty="0" err="1"/>
              <a:t>Aldawood</a:t>
            </a:r>
            <a:r>
              <a:rPr lang="en-IN" sz="1200" dirty="0"/>
              <a:t> and Skinner, 2018).</a:t>
            </a:r>
          </a:p>
          <a:p>
            <a:endParaRPr lang="en-IN" sz="1200" b="1" u="sng" dirty="0"/>
          </a:p>
          <a:p>
            <a:endParaRPr lang="en-IN" sz="2000" b="1" u="sng" dirty="0"/>
          </a:p>
          <a:p>
            <a:endParaRPr lang="en-IN" sz="2000" b="1" u="sng" dirty="0"/>
          </a:p>
          <a:p>
            <a:endParaRPr lang="en-IN" sz="2000" dirty="0"/>
          </a:p>
        </p:txBody>
      </p:sp>
      <p:pic>
        <p:nvPicPr>
          <p:cNvPr id="5" name="Picture 4">
            <a:extLst>
              <a:ext uri="{FF2B5EF4-FFF2-40B4-BE49-F238E27FC236}">
                <a16:creationId xmlns:a16="http://schemas.microsoft.com/office/drawing/2014/main" id="{EAAE272A-85CE-1356-DDBA-1495CF502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1056" y="3501008"/>
            <a:ext cx="6962775" cy="1257300"/>
          </a:xfrm>
          <a:prstGeom prst="rect">
            <a:avLst/>
          </a:prstGeom>
        </p:spPr>
      </p:pic>
    </p:spTree>
    <p:extLst>
      <p:ext uri="{BB962C8B-B14F-4D97-AF65-F5344CB8AC3E}">
        <p14:creationId xmlns:p14="http://schemas.microsoft.com/office/powerpoint/2010/main" val="4225776149"/>
      </p:ext>
    </p:extLst>
  </p:cSld>
  <p:clrMapOvr>
    <a:masterClrMapping/>
  </p:clrMapOvr>
  <mc:AlternateContent xmlns:mc="http://schemas.openxmlformats.org/markup-compatibility/2006">
    <mc:Choice xmlns:p14="http://schemas.microsoft.com/office/powerpoint/2010/main" Requires="p14">
      <p:transition spd="med" p14:dur="700" advTm="48731">
        <p:fade/>
      </p:transition>
    </mc:Choice>
    <mc:Fallback>
      <p:transition spd="med" advTm="4873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813038-D4F5-F77C-1847-E7CEBDD30E71}"/>
              </a:ext>
            </a:extLst>
          </p:cNvPr>
          <p:cNvSpPr txBox="1"/>
          <p:nvPr/>
        </p:nvSpPr>
        <p:spPr>
          <a:xfrm>
            <a:off x="1557908" y="1124744"/>
            <a:ext cx="9937104" cy="5078313"/>
          </a:xfrm>
          <a:prstGeom prst="rect">
            <a:avLst/>
          </a:prstGeom>
          <a:noFill/>
        </p:spPr>
        <p:txBody>
          <a:bodyPr wrap="square" rtlCol="0">
            <a:spAutoFit/>
          </a:bodyPr>
          <a:lstStyle/>
          <a:p>
            <a:r>
              <a:rPr lang="en-US" sz="1800" dirty="0"/>
              <a:t>Mitnick’s attack model has four phases: research, developing rapport and trust, </a:t>
            </a:r>
          </a:p>
          <a:p>
            <a:r>
              <a:rPr lang="en-US" sz="1800" dirty="0"/>
              <a:t>exploiting trust, and </a:t>
            </a:r>
            <a:r>
              <a:rPr lang="en-US" sz="1800" dirty="0" err="1"/>
              <a:t>utilising</a:t>
            </a:r>
            <a:r>
              <a:rPr lang="en-US" sz="1800" dirty="0"/>
              <a:t> information.</a:t>
            </a:r>
          </a:p>
          <a:p>
            <a:r>
              <a:rPr lang="en-US" sz="1800" b="1" u="sng" dirty="0"/>
              <a:t>Research:</a:t>
            </a:r>
            <a:r>
              <a:rPr lang="en-US" sz="1800" dirty="0"/>
              <a:t> It is an approach to acquiring data in which information about the </a:t>
            </a:r>
          </a:p>
          <a:p>
            <a:r>
              <a:rPr lang="en-US" sz="1800" dirty="0"/>
              <a:t>object of interest is retrieved. Prior to initiating the attack, the person who </a:t>
            </a:r>
          </a:p>
          <a:p>
            <a:r>
              <a:rPr lang="en-US" sz="1800" dirty="0"/>
              <a:t>attacked should have as much information as possible about the victim.</a:t>
            </a:r>
          </a:p>
          <a:p>
            <a:r>
              <a:rPr lang="en-US" sz="1800" b="1" u="sng" dirty="0"/>
              <a:t>Developing Rapport and Trust: </a:t>
            </a:r>
            <a:r>
              <a:rPr lang="en-US" sz="1800" dirty="0"/>
              <a:t>A victim who trusts an attacker is more likely </a:t>
            </a:r>
          </a:p>
          <a:p>
            <a:r>
              <a:rPr lang="en-US" sz="1800" dirty="0"/>
              <a:t>to provide the information demanded by the attacker. Rapport and trust </a:t>
            </a:r>
          </a:p>
          <a:p>
            <a:r>
              <a:rPr lang="en-US" sz="1800" dirty="0"/>
              <a:t>development may be accomplished by using insider knowledge, faking one's </a:t>
            </a:r>
          </a:p>
          <a:p>
            <a:r>
              <a:rPr lang="en-US" sz="1800" dirty="0"/>
              <a:t>identity, referencing people the victim is connected with, expressing a desire for </a:t>
            </a:r>
          </a:p>
          <a:p>
            <a:r>
              <a:rPr lang="en-US" sz="1800" dirty="0"/>
              <a:t>assistance, or assuming a position of power.</a:t>
            </a:r>
          </a:p>
          <a:p>
            <a:r>
              <a:rPr lang="en-US" sz="1800" b="1" u="sng" dirty="0"/>
              <a:t>Exploiting Trust: </a:t>
            </a:r>
            <a:r>
              <a:rPr lang="en-US" sz="1800" dirty="0"/>
              <a:t>A request for information, a demand that the victim execute </a:t>
            </a:r>
          </a:p>
          <a:p>
            <a:r>
              <a:rPr lang="en-US" sz="1800" dirty="0"/>
              <a:t>an action, or, alternatively, manipulation of the victim into approaching the </a:t>
            </a:r>
          </a:p>
          <a:p>
            <a:r>
              <a:rPr lang="en-US" sz="1800" dirty="0"/>
              <a:t>attacker for assistance are all ways to extract data from the target. In this phase, </a:t>
            </a:r>
          </a:p>
          <a:p>
            <a:r>
              <a:rPr lang="en-US" sz="1800" dirty="0"/>
              <a:t>the connection that was previously established is abused to obtain the </a:t>
            </a:r>
          </a:p>
          <a:p>
            <a:r>
              <a:rPr lang="en-US" sz="1800" dirty="0"/>
              <a:t>information or result that was first wanted.</a:t>
            </a:r>
          </a:p>
          <a:p>
            <a:r>
              <a:rPr lang="en-US" sz="1800" b="1" u="sng" dirty="0" err="1"/>
              <a:t>Utilise</a:t>
            </a:r>
            <a:r>
              <a:rPr lang="en-US" sz="1800" b="1" u="sng" dirty="0"/>
              <a:t> Information: </a:t>
            </a:r>
            <a:r>
              <a:rPr lang="en-US" sz="1800" dirty="0"/>
              <a:t>The attack's aim is finally reached, or any additional </a:t>
            </a:r>
          </a:p>
          <a:p>
            <a:r>
              <a:rPr lang="en-US" sz="1800" dirty="0"/>
              <a:t>actions that might be necessary for getting there are shifted once the prior </a:t>
            </a:r>
          </a:p>
          <a:p>
            <a:r>
              <a:rPr lang="en-US" sz="1800" dirty="0"/>
              <a:t>phase's result has been utilized. </a:t>
            </a:r>
            <a:endParaRPr lang="en-IN" sz="1800" dirty="0"/>
          </a:p>
        </p:txBody>
      </p:sp>
    </p:spTree>
    <p:extLst>
      <p:ext uri="{BB962C8B-B14F-4D97-AF65-F5344CB8AC3E}">
        <p14:creationId xmlns:p14="http://schemas.microsoft.com/office/powerpoint/2010/main" val="2450673292"/>
      </p:ext>
    </p:extLst>
  </p:cSld>
  <p:clrMapOvr>
    <a:masterClrMapping/>
  </p:clrMapOvr>
  <mc:AlternateContent xmlns:mc="http://schemas.openxmlformats.org/markup-compatibility/2006">
    <mc:Choice xmlns:p14="http://schemas.microsoft.com/office/powerpoint/2010/main" Requires="p14">
      <p:transition spd="med" p14:dur="700" advTm="8037">
        <p:fade/>
      </p:transition>
    </mc:Choice>
    <mc:Fallback>
      <p:transition spd="med" advTm="8037">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B63250-776D-BF10-E11B-BFD90E3A473F}"/>
              </a:ext>
            </a:extLst>
          </p:cNvPr>
          <p:cNvSpPr txBox="1"/>
          <p:nvPr/>
        </p:nvSpPr>
        <p:spPr>
          <a:xfrm>
            <a:off x="1413892" y="836712"/>
            <a:ext cx="10153128" cy="5878532"/>
          </a:xfrm>
          <a:prstGeom prst="rect">
            <a:avLst/>
          </a:prstGeom>
          <a:noFill/>
        </p:spPr>
        <p:txBody>
          <a:bodyPr wrap="square" rtlCol="0">
            <a:spAutoFit/>
          </a:bodyPr>
          <a:lstStyle/>
          <a:p>
            <a:r>
              <a:rPr lang="en-IN" sz="2800" b="1" u="sng" dirty="0"/>
              <a:t>BARCLAYS-SANTANDER BANKING ATTACK</a:t>
            </a:r>
          </a:p>
          <a:p>
            <a:endParaRPr lang="en-IN" sz="2800" dirty="0"/>
          </a:p>
          <a:p>
            <a:r>
              <a:rPr lang="en-US" sz="2000" dirty="0"/>
              <a:t>High street banks' branches were attacked by </a:t>
            </a:r>
            <a:r>
              <a:rPr lang="en-US" sz="2000" b="1" dirty="0"/>
              <a:t>cybercriminals who appeared to </a:t>
            </a:r>
          </a:p>
          <a:p>
            <a:r>
              <a:rPr lang="en-US" sz="2000" b="1" dirty="0"/>
              <a:t>be from the IT division of the business. They were granted access to the bank's </a:t>
            </a:r>
          </a:p>
          <a:p>
            <a:r>
              <a:rPr lang="en-US" sz="2000" b="1" dirty="0"/>
              <a:t>computer network by officials from the bank. </a:t>
            </a:r>
            <a:r>
              <a:rPr lang="en-US" sz="2000" dirty="0"/>
              <a:t>They set up a KVM (keyboard, </a:t>
            </a:r>
          </a:p>
          <a:p>
            <a:r>
              <a:rPr lang="en-US" sz="2000" dirty="0"/>
              <a:t>video, and mouse) switch that gave them the ability to connect to the bank's </a:t>
            </a:r>
          </a:p>
          <a:p>
            <a:r>
              <a:rPr lang="en-US" sz="2000" dirty="0"/>
              <a:t>Computer. The attackers took £1.25 billion from the bank accounts after gaining access to </a:t>
            </a:r>
          </a:p>
          <a:p>
            <a:r>
              <a:rPr lang="en-US" sz="2000" dirty="0"/>
              <a:t>consumer personal information such as credit and debit card numbers, placing </a:t>
            </a:r>
          </a:p>
          <a:p>
            <a:r>
              <a:rPr lang="en-US" sz="2000" dirty="0"/>
              <a:t>them at risk of committing more crimes. Police were able to capture the group, </a:t>
            </a:r>
          </a:p>
          <a:p>
            <a:r>
              <a:rPr lang="en-US" sz="2000" dirty="0"/>
              <a:t>and the majority of the funds were recovered. The bank's reputation was probably </a:t>
            </a:r>
          </a:p>
          <a:p>
            <a:r>
              <a:rPr lang="en-US" sz="2000" dirty="0"/>
              <a:t>harmed by the media attention, and safety issues were raised. </a:t>
            </a:r>
          </a:p>
          <a:p>
            <a:r>
              <a:rPr lang="en-US" sz="2000" dirty="0"/>
              <a:t>The problem wasn't restricted to a single bank or location, which is a crucial point </a:t>
            </a:r>
          </a:p>
          <a:p>
            <a:r>
              <a:rPr lang="en-US" sz="2000" dirty="0"/>
              <a:t>to keep in mind. It is possible that </a:t>
            </a:r>
            <a:r>
              <a:rPr lang="en-US" sz="2000" dirty="0" err="1"/>
              <a:t>organisational</a:t>
            </a:r>
            <a:r>
              <a:rPr lang="en-US" sz="2000" dirty="0"/>
              <a:t> fundamental reasons and human </a:t>
            </a:r>
          </a:p>
          <a:p>
            <a:r>
              <a:rPr lang="en-US" sz="2000" dirty="0"/>
              <a:t>mistakes were responsible for considering this. Spreading of blame happens when </a:t>
            </a:r>
          </a:p>
          <a:p>
            <a:r>
              <a:rPr lang="en-US" sz="2000" dirty="0"/>
              <a:t>staff members fail to verify the credentials of the attacker, which confirms that </a:t>
            </a:r>
          </a:p>
          <a:p>
            <a:r>
              <a:rPr lang="en-US" sz="2000" dirty="0"/>
              <a:t>none of them has checked them. </a:t>
            </a:r>
            <a:r>
              <a:rPr lang="en-US" sz="2000" b="1" dirty="0"/>
              <a:t>It's conceivable that the failure to verify </a:t>
            </a:r>
          </a:p>
          <a:p>
            <a:r>
              <a:rPr lang="en-US" sz="2000" b="1" dirty="0"/>
              <a:t>credentials has been exacerbated by the tendency to believe in the statements </a:t>
            </a:r>
          </a:p>
          <a:p>
            <a:r>
              <a:rPr lang="en-US" sz="2000" b="1" dirty="0"/>
              <a:t>from people we like as well as conforming to social standards</a:t>
            </a:r>
            <a:endParaRPr lang="en-IN" sz="2000" b="1" dirty="0"/>
          </a:p>
        </p:txBody>
      </p:sp>
    </p:spTree>
    <p:extLst>
      <p:ext uri="{BB962C8B-B14F-4D97-AF65-F5344CB8AC3E}">
        <p14:creationId xmlns:p14="http://schemas.microsoft.com/office/powerpoint/2010/main" val="2673379479"/>
      </p:ext>
    </p:extLst>
  </p:cSld>
  <p:clrMapOvr>
    <a:masterClrMapping/>
  </p:clrMapOvr>
  <mc:AlternateContent xmlns:mc="http://schemas.openxmlformats.org/markup-compatibility/2006">
    <mc:Choice xmlns:p14="http://schemas.microsoft.com/office/powerpoint/2010/main" Requires="p14">
      <p:transition spd="med" p14:dur="700" advTm="28009">
        <p:fade/>
      </p:transition>
    </mc:Choice>
    <mc:Fallback>
      <p:transition spd="med" advTm="28009">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915A4A-4B1A-FE21-C41D-C164E5C62847}"/>
              </a:ext>
            </a:extLst>
          </p:cNvPr>
          <p:cNvSpPr txBox="1"/>
          <p:nvPr/>
        </p:nvSpPr>
        <p:spPr>
          <a:xfrm>
            <a:off x="1197868" y="836712"/>
            <a:ext cx="10513168" cy="5663089"/>
          </a:xfrm>
          <a:prstGeom prst="rect">
            <a:avLst/>
          </a:prstGeom>
          <a:noFill/>
        </p:spPr>
        <p:txBody>
          <a:bodyPr wrap="square" rtlCol="0">
            <a:spAutoFit/>
          </a:bodyPr>
          <a:lstStyle/>
          <a:p>
            <a:r>
              <a:rPr lang="en-IN" sz="2800" b="1" u="sng" dirty="0"/>
              <a:t>PROPOSED FRAMEWORK</a:t>
            </a:r>
          </a:p>
          <a:p>
            <a:endParaRPr lang="en-IN" sz="2800" b="1" u="sng" dirty="0"/>
          </a:p>
          <a:p>
            <a:r>
              <a:rPr lang="en-US" sz="1800" b="1" u="sng" dirty="0"/>
              <a:t>Strategies to Raise Awareness and Prevent Social Engineering Attacks</a:t>
            </a:r>
          </a:p>
          <a:p>
            <a:endParaRPr lang="en-US" sz="1800" b="1" u="sng" dirty="0"/>
          </a:p>
          <a:p>
            <a:r>
              <a:rPr lang="en-US" sz="1800" dirty="0"/>
              <a:t>Training in Security Awareness for All Users: </a:t>
            </a:r>
          </a:p>
          <a:p>
            <a:r>
              <a:rPr lang="en-US" sz="1800" dirty="0"/>
              <a:t>Employees must receive training on how to identify sensitive information and </a:t>
            </a:r>
          </a:p>
          <a:p>
            <a:r>
              <a:rPr lang="en-US" sz="1800" dirty="0"/>
              <a:t>understand their duty to protect it. Additionally, they ought to be given the </a:t>
            </a:r>
          </a:p>
          <a:p>
            <a:r>
              <a:rPr lang="en-US" sz="1800" dirty="0"/>
              <a:t>power to reject requests, particularly ones that seem odd or improper, knowing </a:t>
            </a:r>
          </a:p>
          <a:p>
            <a:r>
              <a:rPr lang="en-US" sz="1800" dirty="0"/>
              <a:t>that upper management will assist them in doing so.</a:t>
            </a:r>
          </a:p>
          <a:p>
            <a:endParaRPr lang="en-US" sz="1800" dirty="0"/>
          </a:p>
          <a:p>
            <a:r>
              <a:rPr lang="en-US" sz="1800" dirty="0"/>
              <a:t>Social engineering and Security Policy: </a:t>
            </a:r>
          </a:p>
          <a:p>
            <a:r>
              <a:rPr lang="en-US" sz="1800" dirty="0"/>
              <a:t>Every strong security for information architecture is built on its rules and </a:t>
            </a:r>
          </a:p>
          <a:p>
            <a:r>
              <a:rPr lang="en-US" sz="1800" dirty="0"/>
              <a:t>regulations. The policy itself ought to lay out the specific needs and degrees of </a:t>
            </a:r>
          </a:p>
          <a:p>
            <a:r>
              <a:rPr lang="en-US" sz="1800" dirty="0"/>
              <a:t>safety that apply to various systems and situations.</a:t>
            </a:r>
          </a:p>
          <a:p>
            <a:r>
              <a:rPr lang="en-US" sz="1800" dirty="0"/>
              <a:t>The policy must make it clear what kind of data may and may not be provided </a:t>
            </a:r>
          </a:p>
          <a:p>
            <a:r>
              <a:rPr lang="en-US" sz="1800" dirty="0"/>
              <a:t>and should assist end users in fending off demands from hackers.</a:t>
            </a: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IN" sz="1800" b="1" u="sng" dirty="0"/>
          </a:p>
        </p:txBody>
      </p:sp>
    </p:spTree>
    <p:extLst>
      <p:ext uri="{BB962C8B-B14F-4D97-AF65-F5344CB8AC3E}">
        <p14:creationId xmlns:p14="http://schemas.microsoft.com/office/powerpoint/2010/main" val="4160145543"/>
      </p:ext>
    </p:extLst>
  </p:cSld>
  <p:clrMapOvr>
    <a:masterClrMapping/>
  </p:clrMapOvr>
  <mc:AlternateContent xmlns:mc="http://schemas.openxmlformats.org/markup-compatibility/2006">
    <mc:Choice xmlns:p14="http://schemas.microsoft.com/office/powerpoint/2010/main" Requires="p14">
      <p:transition spd="med" p14:dur="700" advTm="37026">
        <p:fade/>
      </p:transition>
    </mc:Choice>
    <mc:Fallback>
      <p:transition spd="med" advTm="37026">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8B9945-22B2-0F4E-67E0-5CCDD1A8E8EE}"/>
              </a:ext>
            </a:extLst>
          </p:cNvPr>
          <p:cNvSpPr txBox="1"/>
          <p:nvPr/>
        </p:nvSpPr>
        <p:spPr>
          <a:xfrm>
            <a:off x="765820" y="548680"/>
            <a:ext cx="10801200" cy="5632311"/>
          </a:xfrm>
          <a:prstGeom prst="rect">
            <a:avLst/>
          </a:prstGeom>
          <a:noFill/>
        </p:spPr>
        <p:txBody>
          <a:bodyPr wrap="square" rtlCol="0">
            <a:spAutoFit/>
          </a:bodyPr>
          <a:lstStyle/>
          <a:p>
            <a:r>
              <a:rPr lang="en-US" sz="1800" dirty="0"/>
              <a:t>Rejection from Key Personnel: </a:t>
            </a:r>
          </a:p>
          <a:p>
            <a:r>
              <a:rPr lang="en-US" sz="1800" dirty="0"/>
              <a:t>Social engineers are frequently choosing to target key employees including </a:t>
            </a:r>
          </a:p>
          <a:p>
            <a:r>
              <a:rPr lang="en-US" sz="1800" dirty="0"/>
              <a:t>technical support desk staff, customer service agents, business assistants, </a:t>
            </a:r>
          </a:p>
          <a:p>
            <a:r>
              <a:rPr lang="en-US" sz="1800" dirty="0"/>
              <a:t>secretaries, system administrators, and engineers.</a:t>
            </a:r>
          </a:p>
          <a:p>
            <a:r>
              <a:rPr lang="en-US" sz="1800" dirty="0"/>
              <a:t>Such staff members might gain from resistance training to help them fend off </a:t>
            </a:r>
          </a:p>
          <a:p>
            <a:r>
              <a:rPr lang="en-US" sz="1800" dirty="0"/>
              <a:t>social engineers' methods of persuasion. Employees can be prepared by </a:t>
            </a:r>
          </a:p>
          <a:p>
            <a:r>
              <a:rPr lang="en-US" sz="1800" dirty="0"/>
              <a:t>employing strategies from the study of social psychology.</a:t>
            </a:r>
          </a:p>
          <a:p>
            <a:endParaRPr lang="en-US" sz="1800" dirty="0"/>
          </a:p>
          <a:p>
            <a:r>
              <a:rPr lang="en-US" sz="1800" dirty="0"/>
              <a:t>Triggering the memory: </a:t>
            </a:r>
          </a:p>
          <a:p>
            <a:r>
              <a:rPr lang="en-US" sz="1800" dirty="0"/>
              <a:t>To keep staff members informed of possible dangers, frequent reminders are </a:t>
            </a:r>
          </a:p>
          <a:p>
            <a:r>
              <a:rPr lang="en-US" sz="1800" dirty="0"/>
              <a:t>essential. This might be accomplished through regular incident reporting, </a:t>
            </a:r>
          </a:p>
          <a:p>
            <a:r>
              <a:rPr lang="en-US" sz="1800" dirty="0"/>
              <a:t>security newsletters, or other forms of communication.</a:t>
            </a:r>
          </a:p>
          <a:p>
            <a:r>
              <a:rPr lang="en-US" sz="1800" dirty="0"/>
              <a:t>The goal is to maintain the significance of security awareness in the thoughts of </a:t>
            </a:r>
          </a:p>
          <a:p>
            <a:r>
              <a:rPr lang="en-US" sz="1800" dirty="0"/>
              <a:t>Employees.</a:t>
            </a:r>
          </a:p>
          <a:p>
            <a:endParaRPr lang="en-US" sz="1800" dirty="0"/>
          </a:p>
          <a:p>
            <a:r>
              <a:rPr lang="en-US" sz="1800" dirty="0"/>
              <a:t>Social Engineering Pitfalls: They are the </a:t>
            </a:r>
            <a:r>
              <a:rPr lang="en-US" sz="1800" dirty="0" err="1"/>
              <a:t>defences</a:t>
            </a:r>
            <a:r>
              <a:rPr lang="en-US" sz="1800" dirty="0"/>
              <a:t> put into effect by systems that identify and prevent an </a:t>
            </a:r>
          </a:p>
          <a:p>
            <a:r>
              <a:rPr lang="en-US" sz="1800" dirty="0"/>
              <a:t>ongoing social engineering attempt. The devices can notify security personnel </a:t>
            </a:r>
          </a:p>
          <a:p>
            <a:r>
              <a:rPr lang="en-US" sz="1800" dirty="0"/>
              <a:t>as well as potential victims of the assault as soon as they are set off, enabling </a:t>
            </a:r>
          </a:p>
          <a:p>
            <a:r>
              <a:rPr lang="en-US" sz="1800" dirty="0"/>
              <a:t>quick action . </a:t>
            </a:r>
          </a:p>
          <a:p>
            <a:endParaRPr lang="en-IN" sz="1800" dirty="0"/>
          </a:p>
        </p:txBody>
      </p:sp>
    </p:spTree>
    <p:extLst>
      <p:ext uri="{BB962C8B-B14F-4D97-AF65-F5344CB8AC3E}">
        <p14:creationId xmlns:p14="http://schemas.microsoft.com/office/powerpoint/2010/main" val="3914301420"/>
      </p:ext>
    </p:extLst>
  </p:cSld>
  <p:clrMapOvr>
    <a:masterClrMapping/>
  </p:clrMapOvr>
  <mc:AlternateContent xmlns:mc="http://schemas.openxmlformats.org/markup-compatibility/2006">
    <mc:Choice xmlns:p14="http://schemas.microsoft.com/office/powerpoint/2010/main" Requires="p14">
      <p:transition spd="med" p14:dur="700" advTm="12706">
        <p:fade/>
      </p:transition>
    </mc:Choice>
    <mc:Fallback>
      <p:transition spd="med" advTm="12706">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1EA51E-EB39-2346-EC3C-F8DD530D726B}"/>
              </a:ext>
            </a:extLst>
          </p:cNvPr>
          <p:cNvSpPr txBox="1"/>
          <p:nvPr/>
        </p:nvSpPr>
        <p:spPr>
          <a:xfrm>
            <a:off x="909836" y="980728"/>
            <a:ext cx="10657184" cy="4247317"/>
          </a:xfrm>
          <a:prstGeom prst="rect">
            <a:avLst/>
          </a:prstGeom>
          <a:noFill/>
        </p:spPr>
        <p:txBody>
          <a:bodyPr wrap="square" rtlCol="0">
            <a:spAutoFit/>
          </a:bodyPr>
          <a:lstStyle/>
          <a:p>
            <a:r>
              <a:rPr lang="en-US" sz="1800" dirty="0" err="1"/>
              <a:t>Recognising</a:t>
            </a:r>
            <a:r>
              <a:rPr lang="en-US" sz="1800" dirty="0"/>
              <a:t> the Threat Landscape:</a:t>
            </a:r>
          </a:p>
          <a:p>
            <a:r>
              <a:rPr lang="en-US" sz="1800" dirty="0"/>
              <a:t>ICT security measures are growing more advanced at the exact same time that </a:t>
            </a:r>
          </a:p>
          <a:p>
            <a:r>
              <a:rPr lang="en-US" sz="1800" dirty="0"/>
              <a:t>ICT use increases, notably for safe money transactions. Although people are </a:t>
            </a:r>
          </a:p>
          <a:p>
            <a:r>
              <a:rPr lang="en-US" sz="1800" dirty="0"/>
              <a:t>becoming more technically sophisticated, there has been a lag in the growth of </a:t>
            </a:r>
          </a:p>
          <a:p>
            <a:r>
              <a:rPr lang="en-US" sz="1800" dirty="0"/>
              <a:t>awareness of social engineering concerns. Both the business and local </a:t>
            </a:r>
          </a:p>
          <a:p>
            <a:r>
              <a:rPr lang="en-US" sz="1800" dirty="0"/>
              <a:t>environments need to close this discrepancy </a:t>
            </a:r>
          </a:p>
          <a:p>
            <a:endParaRPr lang="en-US" sz="1800" dirty="0"/>
          </a:p>
          <a:p>
            <a:r>
              <a:rPr lang="en-IN" sz="1800" b="1" u="sng" dirty="0"/>
              <a:t>SOCIAL ENGINEERING ATTACK PREVENTION</a:t>
            </a:r>
          </a:p>
          <a:p>
            <a:r>
              <a:rPr lang="en-US" sz="1800" dirty="0"/>
              <a:t>Combating social engineering attacks is now crucial in the complicated field of </a:t>
            </a:r>
          </a:p>
          <a:p>
            <a:r>
              <a:rPr lang="en-US" sz="1800" dirty="0"/>
              <a:t>cybersecurity. The flowchart goes into an exactly crafted framework </a:t>
            </a:r>
          </a:p>
          <a:p>
            <a:r>
              <a:rPr lang="en-US" sz="1800" dirty="0"/>
              <a:t>that involves education, tactic recognition, verification, and the implementation </a:t>
            </a:r>
          </a:p>
          <a:p>
            <a:r>
              <a:rPr lang="en-US" sz="1800" dirty="0"/>
              <a:t>of safety precautions with the goal of demonstrating a holistic plan. The </a:t>
            </a:r>
          </a:p>
          <a:p>
            <a:r>
              <a:rPr lang="en-US" sz="1800" dirty="0"/>
              <a:t>flowchart's intersections and branches form an intricate structure intended for </a:t>
            </a:r>
          </a:p>
          <a:p>
            <a:r>
              <a:rPr lang="en-US" sz="1800" dirty="0"/>
              <a:t>avoiding the all-pervasive hazards presented by social engineering attacks.</a:t>
            </a:r>
          </a:p>
          <a:p>
            <a:r>
              <a:rPr lang="en-IN" sz="1800" dirty="0"/>
              <a:t> </a:t>
            </a:r>
          </a:p>
        </p:txBody>
      </p:sp>
    </p:spTree>
    <p:extLst>
      <p:ext uri="{BB962C8B-B14F-4D97-AF65-F5344CB8AC3E}">
        <p14:creationId xmlns:p14="http://schemas.microsoft.com/office/powerpoint/2010/main" val="2509430015"/>
      </p:ext>
    </p:extLst>
  </p:cSld>
  <p:clrMapOvr>
    <a:masterClrMapping/>
  </p:clrMapOvr>
  <mc:AlternateContent xmlns:mc="http://schemas.openxmlformats.org/markup-compatibility/2006">
    <mc:Choice xmlns:p14="http://schemas.microsoft.com/office/powerpoint/2010/main" Requires="p14">
      <p:transition spd="med" p14:dur="700" advTm="7418">
        <p:fade/>
      </p:transition>
    </mc:Choice>
    <mc:Fallback>
      <p:transition spd="med" advTm="7418">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31CA985-95DA-8E9E-E376-75DD2D7E21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5854" y="8756"/>
            <a:ext cx="4368800" cy="3454400"/>
          </a:xfrm>
          <a:prstGeom prst="rect">
            <a:avLst/>
          </a:prstGeom>
        </p:spPr>
      </p:pic>
      <p:pic>
        <p:nvPicPr>
          <p:cNvPr id="10" name="Picture 9">
            <a:extLst>
              <a:ext uri="{FF2B5EF4-FFF2-40B4-BE49-F238E27FC236}">
                <a16:creationId xmlns:a16="http://schemas.microsoft.com/office/drawing/2014/main" id="{CFAEE4AB-0F26-4EA7-D4C2-1A15B4F29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2204" y="3463156"/>
            <a:ext cx="4362450" cy="3073400"/>
          </a:xfrm>
          <a:prstGeom prst="rect">
            <a:avLst/>
          </a:prstGeom>
        </p:spPr>
      </p:pic>
    </p:spTree>
    <p:extLst>
      <p:ext uri="{BB962C8B-B14F-4D97-AF65-F5344CB8AC3E}">
        <p14:creationId xmlns:p14="http://schemas.microsoft.com/office/powerpoint/2010/main" val="1326111363"/>
      </p:ext>
    </p:extLst>
  </p:cSld>
  <p:clrMapOvr>
    <a:masterClrMapping/>
  </p:clrMapOvr>
  <mc:AlternateContent xmlns:mc="http://schemas.openxmlformats.org/markup-compatibility/2006">
    <mc:Choice xmlns:p14="http://schemas.microsoft.com/office/powerpoint/2010/main" Requires="p14">
      <p:transition spd="med" p14:dur="700" advTm="4282">
        <p:fade/>
      </p:transition>
    </mc:Choice>
    <mc:Fallback>
      <p:transition spd="med" advTm="4282">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36E54-1325-7013-9E29-FCF9E5A490B2}"/>
              </a:ext>
            </a:extLst>
          </p:cNvPr>
          <p:cNvSpPr>
            <a:spLocks noGrp="1"/>
          </p:cNvSpPr>
          <p:nvPr>
            <p:ph type="title"/>
          </p:nvPr>
        </p:nvSpPr>
        <p:spPr>
          <a:xfrm>
            <a:off x="1218883" y="274637"/>
            <a:ext cx="10360501" cy="490067"/>
          </a:xfrm>
        </p:spPr>
        <p:txBody>
          <a:bodyPr>
            <a:normAutofit fontScale="90000"/>
          </a:bodyPr>
          <a:lstStyle/>
          <a:p>
            <a:r>
              <a:rPr lang="en-IN" dirty="0"/>
              <a:t>SOCIAL ENGINEERING ATTACK PREVENTION</a:t>
            </a:r>
          </a:p>
        </p:txBody>
      </p:sp>
      <p:sp>
        <p:nvSpPr>
          <p:cNvPr id="3" name="Content Placeholder 2">
            <a:extLst>
              <a:ext uri="{FF2B5EF4-FFF2-40B4-BE49-F238E27FC236}">
                <a16:creationId xmlns:a16="http://schemas.microsoft.com/office/drawing/2014/main" id="{268209E3-381F-55A4-735D-ABEC6EFC751B}"/>
              </a:ext>
            </a:extLst>
          </p:cNvPr>
          <p:cNvSpPr>
            <a:spLocks noGrp="1"/>
          </p:cNvSpPr>
          <p:nvPr>
            <p:ph idx="1"/>
          </p:nvPr>
        </p:nvSpPr>
        <p:spPr>
          <a:xfrm>
            <a:off x="1218883" y="980728"/>
            <a:ext cx="10360501" cy="5688632"/>
          </a:xfrm>
        </p:spPr>
        <p:txBody>
          <a:bodyPr>
            <a:normAutofit/>
          </a:bodyPr>
          <a:lstStyle/>
          <a:p>
            <a:r>
              <a:rPr lang="en-US" sz="2000" b="1" u="sng" dirty="0"/>
              <a:t>Start: </a:t>
            </a:r>
            <a:r>
              <a:rPr lang="en-US" sz="2000" dirty="0"/>
              <a:t>The process of </a:t>
            </a:r>
            <a:r>
              <a:rPr lang="en-US" sz="2000" dirty="0" err="1"/>
              <a:t>defence</a:t>
            </a:r>
            <a:r>
              <a:rPr lang="en-US" sz="2000" dirty="0"/>
              <a:t> begins right at the beginning of the </a:t>
            </a:r>
          </a:p>
          <a:p>
            <a:pPr marL="0" indent="0">
              <a:buNone/>
            </a:pPr>
            <a:r>
              <a:rPr lang="en-US" sz="2000" dirty="0"/>
              <a:t>    flowchart. This is the first stage of constructing an impregnable fortress to </a:t>
            </a:r>
          </a:p>
          <a:p>
            <a:pPr marL="0" indent="0">
              <a:buNone/>
            </a:pPr>
            <a:r>
              <a:rPr lang="en-US" sz="2000" dirty="0"/>
              <a:t>    protect against the approaching dangers of social engineering attacks.</a:t>
            </a:r>
          </a:p>
          <a:p>
            <a:r>
              <a:rPr lang="en-US" sz="2000" b="1" u="sng" dirty="0"/>
              <a:t>Education and Training: </a:t>
            </a:r>
            <a:r>
              <a:rPr lang="en-US" sz="2000" dirty="0"/>
              <a:t>This component, which is located in the </a:t>
            </a:r>
          </a:p>
          <a:p>
            <a:pPr marL="0" indent="0">
              <a:buNone/>
            </a:pPr>
            <a:r>
              <a:rPr lang="en-US" sz="2000" dirty="0"/>
              <a:t>     center, </a:t>
            </a:r>
            <a:r>
              <a:rPr lang="en-US" sz="2000" dirty="0" err="1"/>
              <a:t>emphasises</a:t>
            </a:r>
            <a:r>
              <a:rPr lang="en-US" sz="2000" dirty="0"/>
              <a:t> the importance of sharing knowledge. People who </a:t>
            </a:r>
          </a:p>
          <a:p>
            <a:pPr marL="0" indent="0">
              <a:buNone/>
            </a:pPr>
            <a:r>
              <a:rPr lang="en-US" sz="2000" dirty="0"/>
              <a:t>     have education and training have a greater ability to identify and reject all </a:t>
            </a:r>
          </a:p>
          <a:p>
            <a:pPr marL="0" indent="0">
              <a:buNone/>
            </a:pPr>
            <a:r>
              <a:rPr lang="en-US" sz="2000" dirty="0"/>
              <a:t>     of the techniques used by social engineers. This information serves as the </a:t>
            </a:r>
          </a:p>
          <a:p>
            <a:pPr marL="0" indent="0">
              <a:buNone/>
            </a:pPr>
            <a:r>
              <a:rPr lang="en-US" sz="2000" dirty="0"/>
              <a:t>      foundation on which other </a:t>
            </a:r>
            <a:r>
              <a:rPr lang="en-US" sz="2000" dirty="0" err="1"/>
              <a:t>defence</a:t>
            </a:r>
            <a:r>
              <a:rPr lang="en-US" sz="2000" dirty="0"/>
              <a:t> layers are built.</a:t>
            </a:r>
          </a:p>
          <a:p>
            <a:r>
              <a:rPr lang="en-US" sz="2000" b="1" u="sng" dirty="0"/>
              <a:t>Connection to Recognize Social Engineering Tactics: </a:t>
            </a:r>
            <a:r>
              <a:rPr lang="en-US" sz="2000" dirty="0"/>
              <a:t>This connection </a:t>
            </a:r>
          </a:p>
          <a:p>
            <a:pPr marL="0" indent="0">
              <a:buNone/>
            </a:pPr>
            <a:r>
              <a:rPr lang="en-US" sz="2000" dirty="0"/>
              <a:t>     represents the change from acquiring knowledge to using it to </a:t>
            </a:r>
            <a:r>
              <a:rPr lang="en-US" sz="2000" dirty="0" err="1"/>
              <a:t>recognise</a:t>
            </a:r>
            <a:r>
              <a:rPr lang="en-US" sz="2000" dirty="0"/>
              <a:t> </a:t>
            </a:r>
          </a:p>
          <a:p>
            <a:pPr marL="0" indent="0">
              <a:buNone/>
            </a:pPr>
            <a:r>
              <a:rPr lang="en-US" sz="2000" dirty="0"/>
              <a:t>     Social Engineering methods. The sole method to enable people to </a:t>
            </a:r>
          </a:p>
          <a:p>
            <a:pPr marL="0" indent="0">
              <a:buNone/>
            </a:pPr>
            <a:r>
              <a:rPr lang="en-US" sz="2000" dirty="0"/>
              <a:t>     comprehend the specifics of these strategies is by means of education</a:t>
            </a:r>
            <a:endParaRPr lang="en-IN" sz="2000" dirty="0"/>
          </a:p>
        </p:txBody>
      </p:sp>
    </p:spTree>
    <p:extLst>
      <p:ext uri="{BB962C8B-B14F-4D97-AF65-F5344CB8AC3E}">
        <p14:creationId xmlns:p14="http://schemas.microsoft.com/office/powerpoint/2010/main" val="2039763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A9BF82-C50B-73E2-3091-930726F409A1}"/>
              </a:ext>
            </a:extLst>
          </p:cNvPr>
          <p:cNvSpPr txBox="1"/>
          <p:nvPr/>
        </p:nvSpPr>
        <p:spPr>
          <a:xfrm>
            <a:off x="909836" y="260648"/>
            <a:ext cx="10945216" cy="6247864"/>
          </a:xfrm>
          <a:prstGeom prst="rect">
            <a:avLst/>
          </a:prstGeom>
          <a:noFill/>
        </p:spPr>
        <p:txBody>
          <a:bodyPr wrap="square" rtlCol="0">
            <a:spAutoFit/>
          </a:bodyPr>
          <a:lstStyle/>
          <a:p>
            <a:pPr marL="342900" indent="-342900">
              <a:buFont typeface="Arial" panose="020B0604020202020204" pitchFamily="34" charset="0"/>
              <a:buChar char="•"/>
            </a:pPr>
            <a:r>
              <a:rPr lang="en-US" sz="2000" b="1" u="sng" dirty="0"/>
              <a:t>Recognize Social Engineering Tactics: </a:t>
            </a:r>
            <a:r>
              <a:rPr lang="en-US" sz="2000" dirty="0"/>
              <a:t>An important turning point that </a:t>
            </a:r>
          </a:p>
          <a:p>
            <a:r>
              <a:rPr lang="en-US" sz="2000" dirty="0"/>
              <a:t>      explores the ability to </a:t>
            </a:r>
            <a:r>
              <a:rPr lang="en-US" sz="2000" dirty="0" err="1"/>
              <a:t>recognise</a:t>
            </a:r>
            <a:r>
              <a:rPr lang="en-US" sz="2000" dirty="0"/>
              <a:t> SE methods, an essential tool in the </a:t>
            </a:r>
          </a:p>
          <a:p>
            <a:r>
              <a:rPr lang="en-US" sz="2000" dirty="0"/>
              <a:t>      </a:t>
            </a:r>
            <a:r>
              <a:rPr lang="en-US" sz="2000" dirty="0" err="1"/>
              <a:t>armoury</a:t>
            </a:r>
            <a:r>
              <a:rPr lang="en-US" sz="2000" dirty="0"/>
              <a:t> against cunning cyber threats. It is similar to using an obstacle </a:t>
            </a:r>
          </a:p>
          <a:p>
            <a:r>
              <a:rPr lang="en-US" sz="2000" dirty="0"/>
              <a:t>      against digital deceit to be able to tell what differentiates honest </a:t>
            </a:r>
          </a:p>
          <a:p>
            <a:r>
              <a:rPr lang="en-US" sz="2000" dirty="0"/>
              <a:t>      exchanges and malevolent ruses.</a:t>
            </a:r>
          </a:p>
          <a:p>
            <a:pPr marL="342900" indent="-342900">
              <a:buFont typeface="Arial" panose="020B0604020202020204" pitchFamily="34" charset="0"/>
              <a:buChar char="•"/>
            </a:pPr>
            <a:r>
              <a:rPr lang="en-US" sz="2000" b="1" u="sng" dirty="0"/>
              <a:t>Phishing: </a:t>
            </a:r>
            <a:r>
              <a:rPr lang="en-US" sz="2000" dirty="0"/>
              <a:t>The flowchart shows phishing as a branch, which is a </a:t>
            </a:r>
          </a:p>
          <a:p>
            <a:r>
              <a:rPr lang="en-US" sz="2000" dirty="0"/>
              <a:t>      </a:t>
            </a:r>
            <a:r>
              <a:rPr lang="en-US" sz="2000" dirty="0" err="1"/>
              <a:t>specialised</a:t>
            </a:r>
            <a:r>
              <a:rPr lang="en-US" sz="2000" dirty="0"/>
              <a:t> social engineering method. To trick receivers into disclosing </a:t>
            </a:r>
          </a:p>
          <a:p>
            <a:r>
              <a:rPr lang="en-US" sz="2000" dirty="0"/>
              <a:t>      confidential data or committing malicious acts, involves sending fake </a:t>
            </a:r>
          </a:p>
          <a:p>
            <a:r>
              <a:rPr lang="en-US" sz="2000" dirty="0"/>
              <a:t>      emails, texts, or other forms of communication. Phishing </a:t>
            </a:r>
          </a:p>
          <a:p>
            <a:r>
              <a:rPr lang="en-US" sz="2000" dirty="0"/>
              <a:t>      emails frequently pose as trustworthy organisations, arousing recipients’ </a:t>
            </a:r>
          </a:p>
          <a:p>
            <a:r>
              <a:rPr lang="en-US" sz="2000" dirty="0"/>
              <a:t>      interest or creating a sense of urgency.</a:t>
            </a:r>
          </a:p>
          <a:p>
            <a:pPr marL="342900" indent="-342900">
              <a:buFont typeface="Arial" panose="020B0604020202020204" pitchFamily="34" charset="0"/>
              <a:buChar char="•"/>
            </a:pPr>
            <a:r>
              <a:rPr lang="en-US" sz="2000" b="1" u="sng" dirty="0"/>
              <a:t>Baiting: </a:t>
            </a:r>
            <a:r>
              <a:rPr lang="en-US" sz="2000" dirty="0"/>
              <a:t>Baiting is a social engineering technique where attackers offer </a:t>
            </a:r>
          </a:p>
          <a:p>
            <a:r>
              <a:rPr lang="en-US" sz="2000" dirty="0"/>
              <a:t>      something alluring, such a free download, to entice targets into </a:t>
            </a:r>
          </a:p>
          <a:p>
            <a:r>
              <a:rPr lang="en-US" sz="2000" dirty="0"/>
              <a:t>      completing an operation that compromises their security. Human interest </a:t>
            </a:r>
          </a:p>
          <a:p>
            <a:r>
              <a:rPr lang="en-US" sz="2000" dirty="0"/>
              <a:t>      or a desire for something important are the usual draws for the bait.</a:t>
            </a:r>
          </a:p>
          <a:p>
            <a:pPr marL="342900" indent="-342900">
              <a:buFont typeface="Arial" panose="020B0604020202020204" pitchFamily="34" charset="0"/>
              <a:buChar char="•"/>
            </a:pPr>
            <a:r>
              <a:rPr lang="en-US" sz="2000" b="1" u="sng" dirty="0"/>
              <a:t>User Awareness and Training: </a:t>
            </a:r>
            <a:r>
              <a:rPr lang="en-US" sz="2000" dirty="0"/>
              <a:t>Employees should be trained on the most </a:t>
            </a:r>
          </a:p>
          <a:p>
            <a:r>
              <a:rPr lang="en-US" sz="2000" dirty="0"/>
              <a:t>      common social engineering techniques as part of successful user </a:t>
            </a:r>
          </a:p>
          <a:p>
            <a:r>
              <a:rPr lang="en-US" sz="2000" dirty="0"/>
              <a:t>      awareness and instruction, and should be given the knowledge and </a:t>
            </a:r>
          </a:p>
          <a:p>
            <a:r>
              <a:rPr lang="en-US" sz="2000" dirty="0"/>
              <a:t>     abilities necessary to </a:t>
            </a:r>
            <a:r>
              <a:rPr lang="en-US" sz="2000" dirty="0" err="1"/>
              <a:t>recognise</a:t>
            </a:r>
            <a:r>
              <a:rPr lang="en-US" sz="2000" dirty="0"/>
              <a:t> dangers and stop them from happening in </a:t>
            </a:r>
          </a:p>
          <a:p>
            <a:r>
              <a:rPr lang="en-US" sz="2000" dirty="0"/>
              <a:t>      tracks.</a:t>
            </a:r>
            <a:endParaRPr lang="en-IN" sz="2000" dirty="0"/>
          </a:p>
        </p:txBody>
      </p:sp>
    </p:spTree>
    <p:extLst>
      <p:ext uri="{BB962C8B-B14F-4D97-AF65-F5344CB8AC3E}">
        <p14:creationId xmlns:p14="http://schemas.microsoft.com/office/powerpoint/2010/main" val="372164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1727A9-88DF-D026-36C8-C5E01C0B6C27}"/>
              </a:ext>
            </a:extLst>
          </p:cNvPr>
          <p:cNvSpPr txBox="1"/>
          <p:nvPr/>
        </p:nvSpPr>
        <p:spPr>
          <a:xfrm>
            <a:off x="837828" y="332656"/>
            <a:ext cx="11089232" cy="5940088"/>
          </a:xfrm>
          <a:prstGeom prst="rect">
            <a:avLst/>
          </a:prstGeom>
          <a:noFill/>
        </p:spPr>
        <p:txBody>
          <a:bodyPr wrap="square" rtlCol="0">
            <a:spAutoFit/>
          </a:bodyPr>
          <a:lstStyle/>
          <a:p>
            <a:pPr marL="342900" indent="-342900">
              <a:buFont typeface="Arial" panose="020B0604020202020204" pitchFamily="34" charset="0"/>
              <a:buChar char="•"/>
            </a:pPr>
            <a:r>
              <a:rPr lang="en-US" sz="2000" b="1" u="sng" dirty="0"/>
              <a:t>Connection to Using of Strong Passwords: </a:t>
            </a:r>
            <a:r>
              <a:rPr lang="en-US" sz="2000" dirty="0"/>
              <a:t>The connection represents </a:t>
            </a:r>
          </a:p>
          <a:p>
            <a:r>
              <a:rPr lang="en-US" sz="2000" dirty="0"/>
              <a:t>      the data is more safe when using strong passwords. So that the attacker </a:t>
            </a:r>
          </a:p>
          <a:p>
            <a:r>
              <a:rPr lang="en-US" sz="2000" dirty="0"/>
              <a:t>      cannot be able to get the private data easily.</a:t>
            </a:r>
          </a:p>
          <a:p>
            <a:pPr marL="342900" indent="-342900">
              <a:buFont typeface="Arial" panose="020B0604020202020204" pitchFamily="34" charset="0"/>
              <a:buChar char="•"/>
            </a:pPr>
            <a:r>
              <a:rPr lang="en-US" sz="2000" b="1" u="sng" dirty="0"/>
              <a:t>Using of Strong Passwords: </a:t>
            </a:r>
            <a:r>
              <a:rPr lang="en-US" sz="2000" dirty="0"/>
              <a:t>The using of Strong Passwords makes the </a:t>
            </a:r>
          </a:p>
          <a:p>
            <a:r>
              <a:rPr lang="en-US" sz="2000" dirty="0"/>
              <a:t>      data more secured. So that the attacker cant easily access the confidential </a:t>
            </a:r>
          </a:p>
          <a:p>
            <a:r>
              <a:rPr lang="en-US" sz="2000" dirty="0"/>
              <a:t>      data’s. Its better to avoid the passwords like Name, DOB, and Common </a:t>
            </a:r>
          </a:p>
          <a:p>
            <a:r>
              <a:rPr lang="en-US" sz="2000" dirty="0"/>
              <a:t>      Numeric passwords. Making passwords with the mix of special </a:t>
            </a:r>
          </a:p>
          <a:p>
            <a:r>
              <a:rPr lang="en-US" sz="2000" dirty="0"/>
              <a:t>      characters, alphabets and numerals makes the password strong. </a:t>
            </a:r>
          </a:p>
          <a:p>
            <a:pPr marL="342900" indent="-342900">
              <a:buFont typeface="Arial" panose="020B0604020202020204" pitchFamily="34" charset="0"/>
              <a:buChar char="•"/>
            </a:pPr>
            <a:r>
              <a:rPr lang="en-US" sz="2000" b="1" u="sng" dirty="0"/>
              <a:t>Implement Two Factor Authentication:</a:t>
            </a:r>
            <a:r>
              <a:rPr lang="en-US" sz="2000" dirty="0"/>
              <a:t> The safety measure known as </a:t>
            </a:r>
          </a:p>
          <a:p>
            <a:r>
              <a:rPr lang="en-US" sz="2000" dirty="0"/>
              <a:t>      two-factor authentication (2FA), sometimes known as two-step </a:t>
            </a:r>
          </a:p>
          <a:p>
            <a:r>
              <a:rPr lang="en-US" sz="2000" dirty="0"/>
              <a:t>      verification or dual-factor authentication, requires users to provide two </a:t>
            </a:r>
          </a:p>
          <a:p>
            <a:r>
              <a:rPr lang="en-US" sz="2000" dirty="0"/>
              <a:t>      separate authentication factors in order to verify their identity. A user’s </a:t>
            </a:r>
          </a:p>
          <a:p>
            <a:r>
              <a:rPr lang="en-US" sz="2000" dirty="0"/>
              <a:t>      login information and any assets they may access have been more </a:t>
            </a:r>
          </a:p>
          <a:p>
            <a:r>
              <a:rPr lang="en-US" sz="2000" dirty="0"/>
              <a:t>      securely safeguarded by the usage of 2FA</a:t>
            </a:r>
            <a:endParaRPr lang="en-IN" sz="2000" dirty="0"/>
          </a:p>
          <a:p>
            <a:pPr marL="342900" indent="-342900">
              <a:buFont typeface="Arial" panose="020B0604020202020204" pitchFamily="34" charset="0"/>
              <a:buChar char="•"/>
            </a:pPr>
            <a:r>
              <a:rPr lang="en-US" sz="2000" b="1" u="sng" dirty="0"/>
              <a:t>Secured Passwords: </a:t>
            </a:r>
            <a:r>
              <a:rPr lang="en-US" sz="2000" dirty="0"/>
              <a:t>Data remains more safe when using secure </a:t>
            </a:r>
          </a:p>
          <a:p>
            <a:r>
              <a:rPr lang="en-US" sz="2000" dirty="0"/>
              <a:t>      passwords. To avoid easy access to the sensitive data by the attacker. </a:t>
            </a:r>
          </a:p>
          <a:p>
            <a:r>
              <a:rPr lang="en-US" sz="2000" dirty="0"/>
              <a:t>      Avoid using common numeric passwords, your name, your DOB, and </a:t>
            </a:r>
          </a:p>
          <a:p>
            <a:r>
              <a:rPr lang="en-US" sz="2000" dirty="0"/>
              <a:t>      comparable passwords. The strength of a password is increased by using </a:t>
            </a:r>
          </a:p>
          <a:p>
            <a:r>
              <a:rPr lang="en-US" sz="2000" dirty="0"/>
              <a:t>      an arrangement of special characters, alphabets, and numbers.</a:t>
            </a:r>
          </a:p>
        </p:txBody>
      </p:sp>
    </p:spTree>
    <p:extLst>
      <p:ext uri="{BB962C8B-B14F-4D97-AF65-F5344CB8AC3E}">
        <p14:creationId xmlns:p14="http://schemas.microsoft.com/office/powerpoint/2010/main" val="2371763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FAC73D-35F9-6D50-0701-755DC24C2187}"/>
              </a:ext>
            </a:extLst>
          </p:cNvPr>
          <p:cNvSpPr txBox="1"/>
          <p:nvPr/>
        </p:nvSpPr>
        <p:spPr>
          <a:xfrm>
            <a:off x="1125860" y="548680"/>
            <a:ext cx="10729192" cy="5632311"/>
          </a:xfrm>
          <a:prstGeom prst="rect">
            <a:avLst/>
          </a:prstGeom>
          <a:noFill/>
        </p:spPr>
        <p:txBody>
          <a:bodyPr wrap="square" rtlCol="0">
            <a:spAutoFit/>
          </a:bodyPr>
          <a:lstStyle/>
          <a:p>
            <a:pPr marL="342900" indent="-342900">
              <a:buFont typeface="Arial" panose="020B0604020202020204" pitchFamily="34" charset="0"/>
              <a:buChar char="•"/>
            </a:pPr>
            <a:r>
              <a:rPr lang="en-US" sz="2000" b="1" u="sng" dirty="0"/>
              <a:t>Verify Requests: </a:t>
            </a:r>
            <a:r>
              <a:rPr lang="en-US" sz="2000" dirty="0"/>
              <a:t>The user must cross check each and every single </a:t>
            </a:r>
          </a:p>
          <a:p>
            <a:r>
              <a:rPr lang="en-US" sz="2000" dirty="0"/>
              <a:t>      requests for the access to improve the security and to avoid the attacks </a:t>
            </a:r>
          </a:p>
          <a:p>
            <a:r>
              <a:rPr lang="en-US" sz="2000" dirty="0"/>
              <a:t>      from outside. It operates as a vital </a:t>
            </a:r>
            <a:r>
              <a:rPr lang="en-US" sz="2000" dirty="0" err="1"/>
              <a:t>defence</a:t>
            </a:r>
            <a:r>
              <a:rPr lang="en-US" sz="2000" dirty="0"/>
              <a:t> against deceptive techniques </a:t>
            </a:r>
          </a:p>
          <a:p>
            <a:r>
              <a:rPr lang="en-US" sz="2000" dirty="0"/>
              <a:t>      Like phishing, pretexting, and impersonation through motivating people to </a:t>
            </a:r>
          </a:p>
          <a:p>
            <a:r>
              <a:rPr lang="en-US" sz="2000" dirty="0"/>
              <a:t>      respond to messages and requests with caution and vigilance. This </a:t>
            </a:r>
          </a:p>
          <a:p>
            <a:r>
              <a:rPr lang="en-US" sz="2000" dirty="0"/>
              <a:t>      method encourages people to independently verify the validity of request </a:t>
            </a:r>
          </a:p>
          <a:p>
            <a:r>
              <a:rPr lang="en-US" sz="2000" dirty="0"/>
              <a:t>      via </a:t>
            </a:r>
            <a:r>
              <a:rPr lang="en-US" sz="2000" dirty="0" err="1"/>
              <a:t>authorised</a:t>
            </a:r>
            <a:r>
              <a:rPr lang="en-US" sz="2000" dirty="0"/>
              <a:t> channels prior to making any decisions.</a:t>
            </a:r>
          </a:p>
          <a:p>
            <a:pPr marL="342900" indent="-342900">
              <a:buFont typeface="Arial" panose="020B0604020202020204" pitchFamily="34" charset="0"/>
              <a:buChar char="•"/>
            </a:pPr>
            <a:r>
              <a:rPr lang="en-US" sz="2000" b="1" u="sng" dirty="0"/>
              <a:t>Connection to Spear Phishing: </a:t>
            </a:r>
            <a:r>
              <a:rPr lang="en-US" sz="2000" dirty="0"/>
              <a:t>The idea that using the method of </a:t>
            </a:r>
          </a:p>
          <a:p>
            <a:r>
              <a:rPr lang="en-US" sz="2000" dirty="0"/>
              <a:t>      verification to counter the subtle aspects of spear phishing attacks is a </a:t>
            </a:r>
          </a:p>
          <a:p>
            <a:r>
              <a:rPr lang="en-US" sz="2000" dirty="0"/>
              <a:t>      connection among "Verify Requests" and "Spear Phishing" is the basis of </a:t>
            </a:r>
          </a:p>
          <a:p>
            <a:r>
              <a:rPr lang="en-US" sz="2000" dirty="0"/>
              <a:t>      this connection.</a:t>
            </a:r>
          </a:p>
          <a:p>
            <a:pPr marL="342900" indent="-342900">
              <a:buFont typeface="Arial" panose="020B0604020202020204" pitchFamily="34" charset="0"/>
              <a:buChar char="•"/>
            </a:pPr>
            <a:r>
              <a:rPr lang="en-US" sz="2000" b="1" u="sng" dirty="0"/>
              <a:t>Spear Phishing: </a:t>
            </a:r>
            <a:r>
              <a:rPr lang="en-US" sz="2000" dirty="0"/>
              <a:t>Accuracy and expertise are exactly make spear phishing </a:t>
            </a:r>
          </a:p>
          <a:p>
            <a:r>
              <a:rPr lang="en-US" sz="2000" dirty="0"/>
              <a:t>      so unique. Spear phishing focuses on a smaller area than usual phishing, </a:t>
            </a:r>
          </a:p>
          <a:p>
            <a:r>
              <a:rPr lang="en-US" sz="2000" dirty="0"/>
              <a:t>      which casts a wider net to entice prospective victims. In order to </a:t>
            </a:r>
          </a:p>
          <a:p>
            <a:r>
              <a:rPr lang="en-US" sz="2000" dirty="0"/>
              <a:t>      </a:t>
            </a:r>
            <a:r>
              <a:rPr lang="en-US" sz="2000" dirty="0" err="1"/>
              <a:t>customise</a:t>
            </a:r>
            <a:r>
              <a:rPr lang="en-US" sz="2000" dirty="0"/>
              <a:t> and authenticate their interactions, attackers do research on </a:t>
            </a:r>
          </a:p>
          <a:p>
            <a:r>
              <a:rPr lang="en-US" sz="2000" dirty="0"/>
              <a:t>      those they are targeting and collect information from sources which are </a:t>
            </a:r>
          </a:p>
          <a:p>
            <a:r>
              <a:rPr lang="en-US" sz="2000" dirty="0"/>
              <a:t>      openly accessible.</a:t>
            </a:r>
          </a:p>
          <a:p>
            <a:endParaRPr lang="en-IN" sz="2000" dirty="0"/>
          </a:p>
        </p:txBody>
      </p:sp>
    </p:spTree>
    <p:extLst>
      <p:ext uri="{BB962C8B-B14F-4D97-AF65-F5344CB8AC3E}">
        <p14:creationId xmlns:p14="http://schemas.microsoft.com/office/powerpoint/2010/main" val="965979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39DAD6-1DEE-EDB5-8FEE-1FE886452402}"/>
              </a:ext>
            </a:extLst>
          </p:cNvPr>
          <p:cNvSpPr txBox="1"/>
          <p:nvPr/>
        </p:nvSpPr>
        <p:spPr>
          <a:xfrm>
            <a:off x="1125860" y="548680"/>
            <a:ext cx="10657184" cy="5632311"/>
          </a:xfrm>
          <a:prstGeom prst="rect">
            <a:avLst/>
          </a:prstGeom>
          <a:noFill/>
        </p:spPr>
        <p:txBody>
          <a:bodyPr wrap="square" rtlCol="0">
            <a:spAutoFit/>
          </a:bodyPr>
          <a:lstStyle/>
          <a:p>
            <a:pPr marL="342900" indent="-342900">
              <a:buFont typeface="Arial" panose="020B0604020202020204" pitchFamily="34" charset="0"/>
              <a:buChar char="•"/>
            </a:pPr>
            <a:r>
              <a:rPr lang="en-US" sz="2000" b="1" u="sng" dirty="0"/>
              <a:t>Connection to Tailgating: </a:t>
            </a:r>
            <a:r>
              <a:rPr lang="en-US" sz="2000" dirty="0"/>
              <a:t>The connection between spear phishing and </a:t>
            </a:r>
          </a:p>
          <a:p>
            <a:r>
              <a:rPr lang="en-US" sz="2000" dirty="0"/>
              <a:t>      tailgating is that both include attempts to acquire </a:t>
            </a:r>
            <a:r>
              <a:rPr lang="en-US" sz="2000" dirty="0" err="1"/>
              <a:t>unauthorised</a:t>
            </a:r>
            <a:r>
              <a:rPr lang="en-US" sz="2000" dirty="0"/>
              <a:t> entry, </a:t>
            </a:r>
          </a:p>
          <a:p>
            <a:r>
              <a:rPr lang="en-US" sz="2000" dirty="0"/>
              <a:t>      however by means of different channels: digital and physical.</a:t>
            </a:r>
          </a:p>
          <a:p>
            <a:pPr marL="342900" indent="-342900">
              <a:buFont typeface="Arial" panose="020B0604020202020204" pitchFamily="34" charset="0"/>
              <a:buChar char="•"/>
            </a:pPr>
            <a:r>
              <a:rPr lang="en-US" sz="2000" b="1" u="sng" dirty="0"/>
              <a:t>Tailgating: </a:t>
            </a:r>
            <a:r>
              <a:rPr lang="en-US" sz="2000" dirty="0"/>
              <a:t>A physical social engineering technique is tailgating, which </a:t>
            </a:r>
          </a:p>
          <a:p>
            <a:r>
              <a:rPr lang="en-US" sz="2000" dirty="0"/>
              <a:t>      is also known as piggybacking. It involves an attacker carefully adhering </a:t>
            </a:r>
          </a:p>
          <a:p>
            <a:r>
              <a:rPr lang="en-US" sz="2000" dirty="0"/>
              <a:t>      to an individual with </a:t>
            </a:r>
            <a:r>
              <a:rPr lang="en-US" sz="2000" dirty="0" err="1"/>
              <a:t>authorised</a:t>
            </a:r>
            <a:r>
              <a:rPr lang="en-US" sz="2000" dirty="0"/>
              <a:t> entry to a defended location with the goal </a:t>
            </a:r>
          </a:p>
          <a:p>
            <a:r>
              <a:rPr lang="en-US" sz="2000" dirty="0"/>
              <a:t>      to gain </a:t>
            </a:r>
            <a:r>
              <a:rPr lang="en-US" sz="2000" dirty="0" err="1"/>
              <a:t>unauthorised</a:t>
            </a:r>
            <a:r>
              <a:rPr lang="en-US" sz="2000" dirty="0"/>
              <a:t> access.</a:t>
            </a:r>
          </a:p>
          <a:p>
            <a:pPr marL="342900" indent="-342900">
              <a:buFont typeface="Arial" panose="020B0604020202020204" pitchFamily="34" charset="0"/>
              <a:buChar char="•"/>
            </a:pPr>
            <a:r>
              <a:rPr lang="en-US" sz="2000" b="1" u="sng" dirty="0"/>
              <a:t>Impersonation:</a:t>
            </a:r>
            <a:r>
              <a:rPr lang="en-US" sz="2000" dirty="0"/>
              <a:t> A unique social engineering technique is portrayed as </a:t>
            </a:r>
          </a:p>
          <a:p>
            <a:r>
              <a:rPr lang="en-US" sz="2000" dirty="0"/>
              <a:t>      impersonation. Attackers who imitate others frequently use figures of </a:t>
            </a:r>
          </a:p>
          <a:p>
            <a:r>
              <a:rPr lang="en-US" sz="2000" dirty="0"/>
              <a:t>      authority or other reputable individuals to trick victims into granting them </a:t>
            </a:r>
          </a:p>
          <a:p>
            <a:r>
              <a:rPr lang="en-US" sz="2000" dirty="0"/>
              <a:t>      access or information.</a:t>
            </a:r>
          </a:p>
          <a:p>
            <a:pPr marL="342900" indent="-342900">
              <a:buFont typeface="Arial" panose="020B0604020202020204" pitchFamily="34" charset="0"/>
              <a:buChar char="•"/>
            </a:pPr>
            <a:r>
              <a:rPr lang="en-US" sz="2000" b="1" u="sng" dirty="0"/>
              <a:t>Connection to Pretexting: </a:t>
            </a:r>
            <a:r>
              <a:rPr lang="en-US" sz="2000" dirty="0"/>
              <a:t>Impersonation and pretexting have much in </a:t>
            </a:r>
          </a:p>
          <a:p>
            <a:r>
              <a:rPr lang="en-US" sz="2000" dirty="0"/>
              <a:t>      connection since both involve tricking and manipulating people in order </a:t>
            </a:r>
          </a:p>
          <a:p>
            <a:r>
              <a:rPr lang="en-US" sz="2000" dirty="0"/>
              <a:t>      to get information from them. Pretexting is the process of creating a </a:t>
            </a:r>
          </a:p>
          <a:p>
            <a:r>
              <a:rPr lang="en-US" sz="2000" dirty="0"/>
              <a:t>      plausible story to establish rapport and win the confidence of the victim, </a:t>
            </a:r>
          </a:p>
          <a:p>
            <a:r>
              <a:rPr lang="en-US" sz="2000" dirty="0"/>
              <a:t>      as compared to impersonation, that focuses on taking on a specific </a:t>
            </a:r>
          </a:p>
          <a:p>
            <a:r>
              <a:rPr lang="en-US" sz="2000" dirty="0"/>
              <a:t>      identity to take advantage of the trust.</a:t>
            </a:r>
          </a:p>
          <a:p>
            <a:endParaRPr lang="en-IN" sz="2000" dirty="0"/>
          </a:p>
        </p:txBody>
      </p:sp>
    </p:spTree>
    <p:extLst>
      <p:ext uri="{BB962C8B-B14F-4D97-AF65-F5344CB8AC3E}">
        <p14:creationId xmlns:p14="http://schemas.microsoft.com/office/powerpoint/2010/main" val="3845175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428004-79D3-A30D-132D-EF0AE5D78015}"/>
              </a:ext>
            </a:extLst>
          </p:cNvPr>
          <p:cNvSpPr txBox="1"/>
          <p:nvPr/>
        </p:nvSpPr>
        <p:spPr>
          <a:xfrm>
            <a:off x="909836" y="332656"/>
            <a:ext cx="10873208" cy="6555641"/>
          </a:xfrm>
          <a:prstGeom prst="rect">
            <a:avLst/>
          </a:prstGeom>
          <a:noFill/>
        </p:spPr>
        <p:txBody>
          <a:bodyPr wrap="square" rtlCol="0">
            <a:spAutoFit/>
          </a:bodyPr>
          <a:lstStyle/>
          <a:p>
            <a:pPr marL="342900" indent="-342900">
              <a:buFont typeface="Arial" panose="020B0604020202020204" pitchFamily="34" charset="0"/>
              <a:buChar char="•"/>
            </a:pPr>
            <a:r>
              <a:rPr lang="en-US" sz="2000" b="1" u="sng" dirty="0"/>
              <a:t>Biometric Authentication: </a:t>
            </a:r>
            <a:r>
              <a:rPr lang="en-US" sz="2000" dirty="0"/>
              <a:t>As part of a larger cybersecurity </a:t>
            </a:r>
            <a:r>
              <a:rPr lang="en-US" sz="2000" dirty="0" err="1"/>
              <a:t>defence</a:t>
            </a:r>
            <a:r>
              <a:rPr lang="en-US" sz="2000" dirty="0"/>
              <a:t> </a:t>
            </a:r>
          </a:p>
          <a:p>
            <a:r>
              <a:rPr lang="en-US" sz="2000" dirty="0"/>
              <a:t>      strategy, biometric authentication is presented as a security preventative </a:t>
            </a:r>
          </a:p>
          <a:p>
            <a:r>
              <a:rPr lang="en-US" sz="2000" dirty="0"/>
              <a:t>      measures. The application of distinctive physical or </a:t>
            </a:r>
            <a:r>
              <a:rPr lang="en-US" sz="2000" dirty="0" err="1"/>
              <a:t>behavioural</a:t>
            </a:r>
            <a:r>
              <a:rPr lang="en-US" sz="2000" dirty="0"/>
              <a:t> traits for </a:t>
            </a:r>
          </a:p>
          <a:p>
            <a:r>
              <a:rPr lang="en-US" sz="2000" dirty="0"/>
              <a:t>      verification of identity is known as biometric authentication.</a:t>
            </a:r>
          </a:p>
          <a:p>
            <a:pPr marL="342900" indent="-342900">
              <a:buFont typeface="Arial" panose="020B0604020202020204" pitchFamily="34" charset="0"/>
              <a:buChar char="•"/>
            </a:pPr>
            <a:r>
              <a:rPr lang="en-US" sz="2000" b="1" u="sng" dirty="0"/>
              <a:t>Physical Access: </a:t>
            </a:r>
            <a:r>
              <a:rPr lang="en-US" sz="2000" dirty="0"/>
              <a:t>Physical access refers to limiting who has access to </a:t>
            </a:r>
          </a:p>
          <a:p>
            <a:r>
              <a:rPr lang="en-US" sz="2000" dirty="0"/>
              <a:t>      specific areas inside a physical place, including offices, data </a:t>
            </a:r>
            <a:r>
              <a:rPr lang="en-US" sz="2000" dirty="0" err="1"/>
              <a:t>centres</a:t>
            </a:r>
            <a:r>
              <a:rPr lang="en-US" sz="2000" dirty="0"/>
              <a:t>, and </a:t>
            </a:r>
          </a:p>
          <a:p>
            <a:r>
              <a:rPr lang="en-US" sz="2000" dirty="0"/>
              <a:t>      restricted zones. It necessitates putting security measures in place in order </a:t>
            </a:r>
          </a:p>
          <a:p>
            <a:r>
              <a:rPr lang="en-US" sz="2000" dirty="0"/>
              <a:t>      to keep out </a:t>
            </a:r>
            <a:r>
              <a:rPr lang="en-US" sz="2000" dirty="0" err="1"/>
              <a:t>unauthorised</a:t>
            </a:r>
            <a:r>
              <a:rPr lang="en-US" sz="2000" dirty="0"/>
              <a:t> persons.</a:t>
            </a:r>
          </a:p>
          <a:p>
            <a:pPr marL="342900" indent="-342900">
              <a:buFont typeface="Arial" panose="020B0604020202020204" pitchFamily="34" charset="0"/>
              <a:buChar char="•"/>
            </a:pPr>
            <a:r>
              <a:rPr lang="en-US" sz="2000" b="1" u="sng" dirty="0"/>
              <a:t>Connection to Tailgating: </a:t>
            </a:r>
            <a:r>
              <a:rPr lang="en-US" sz="2000" dirty="0"/>
              <a:t>The connection between tailgating and </a:t>
            </a:r>
          </a:p>
          <a:p>
            <a:r>
              <a:rPr lang="en-US" sz="2000" dirty="0"/>
              <a:t>      physical access draws awareness to the inherent susceptibility of actual </a:t>
            </a:r>
          </a:p>
          <a:p>
            <a:r>
              <a:rPr lang="en-US" sz="2000" dirty="0"/>
              <a:t>      places to social engineering techniques. Key cards and biometric scanners </a:t>
            </a:r>
          </a:p>
          <a:p>
            <a:r>
              <a:rPr lang="en-US" sz="2000" dirty="0"/>
              <a:t>      are two examples of physical security techniques that are employed to </a:t>
            </a:r>
          </a:p>
          <a:p>
            <a:r>
              <a:rPr lang="en-US" sz="2000" dirty="0"/>
              <a:t>      stop </a:t>
            </a:r>
            <a:r>
              <a:rPr lang="en-US" sz="2000" dirty="0" err="1"/>
              <a:t>unauthorised</a:t>
            </a:r>
            <a:r>
              <a:rPr lang="en-US" sz="2000" dirty="0"/>
              <a:t> entrance. However, when individuals knowingly allow </a:t>
            </a:r>
          </a:p>
          <a:p>
            <a:r>
              <a:rPr lang="en-US" sz="2000" dirty="0"/>
              <a:t>      access to others, especially if they are </a:t>
            </a:r>
            <a:r>
              <a:rPr lang="en-US" sz="2000" dirty="0" err="1"/>
              <a:t>authorised</a:t>
            </a:r>
            <a:r>
              <a:rPr lang="en-US" sz="2000" dirty="0"/>
              <a:t> staff, these security </a:t>
            </a:r>
          </a:p>
          <a:p>
            <a:r>
              <a:rPr lang="en-US" sz="2000" dirty="0"/>
              <a:t>      measures can be evaded.</a:t>
            </a:r>
          </a:p>
          <a:p>
            <a:pPr marL="342900" indent="-342900">
              <a:buFont typeface="Arial" panose="020B0604020202020204" pitchFamily="34" charset="0"/>
              <a:buChar char="•"/>
            </a:pPr>
            <a:r>
              <a:rPr lang="en-US" sz="2000" b="1" u="sng" dirty="0"/>
              <a:t>Visitor Sign In: </a:t>
            </a:r>
            <a:r>
              <a:rPr lang="en-US" sz="2000" dirty="0"/>
              <a:t>Visitors must sign in in order to access a facility; this </a:t>
            </a:r>
          </a:p>
          <a:p>
            <a:r>
              <a:rPr lang="en-US" sz="2000" dirty="0"/>
              <a:t>      means of authentication is used to identify individuals who aren't regular </a:t>
            </a:r>
          </a:p>
          <a:p>
            <a:r>
              <a:rPr lang="en-US" sz="2000" dirty="0"/>
              <a:t>      employees or </a:t>
            </a:r>
            <a:r>
              <a:rPr lang="en-US" sz="2000" dirty="0" err="1"/>
              <a:t>authorised</a:t>
            </a:r>
            <a:r>
              <a:rPr lang="en-US" sz="2000" dirty="0"/>
              <a:t> staff. Their name, the reason of their visit, the </a:t>
            </a:r>
          </a:p>
          <a:p>
            <a:r>
              <a:rPr lang="en-US" sz="2000" dirty="0"/>
              <a:t>      place they are going to, and who they are going to see typically appear in </a:t>
            </a:r>
          </a:p>
          <a:p>
            <a:r>
              <a:rPr lang="en-US" sz="2000" dirty="0"/>
              <a:t>      this information.</a:t>
            </a:r>
          </a:p>
          <a:p>
            <a:endParaRPr lang="en-IN" sz="2000" dirty="0"/>
          </a:p>
        </p:txBody>
      </p:sp>
    </p:spTree>
    <p:extLst>
      <p:ext uri="{BB962C8B-B14F-4D97-AF65-F5344CB8AC3E}">
        <p14:creationId xmlns:p14="http://schemas.microsoft.com/office/powerpoint/2010/main" val="3532291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960D25-829C-27C5-2933-37AD494F2E7C}"/>
              </a:ext>
            </a:extLst>
          </p:cNvPr>
          <p:cNvSpPr txBox="1"/>
          <p:nvPr/>
        </p:nvSpPr>
        <p:spPr>
          <a:xfrm>
            <a:off x="909836" y="332656"/>
            <a:ext cx="11017224" cy="5632311"/>
          </a:xfrm>
          <a:prstGeom prst="rect">
            <a:avLst/>
          </a:prstGeom>
          <a:noFill/>
        </p:spPr>
        <p:txBody>
          <a:bodyPr wrap="square" rtlCol="0">
            <a:spAutoFit/>
          </a:bodyPr>
          <a:lstStyle/>
          <a:p>
            <a:pPr marL="342900" indent="-342900">
              <a:buFont typeface="Arial" panose="020B0604020202020204" pitchFamily="34" charset="0"/>
              <a:buChar char="•"/>
            </a:pPr>
            <a:r>
              <a:rPr lang="en-US" sz="2000" b="1" u="sng" dirty="0"/>
              <a:t>Pin codes</a:t>
            </a:r>
            <a:r>
              <a:rPr lang="en-US" sz="2000" dirty="0"/>
              <a:t>: The identity of a person is verified by their Personal </a:t>
            </a:r>
          </a:p>
          <a:p>
            <a:r>
              <a:rPr lang="en-US" sz="2000" dirty="0"/>
              <a:t>      Identification Number (PIN), which is a numerical password which gives </a:t>
            </a:r>
          </a:p>
          <a:p>
            <a:r>
              <a:rPr lang="en-US" sz="2000" dirty="0"/>
              <a:t>      them access to multiple accounts, networks, and physical locations.</a:t>
            </a:r>
          </a:p>
          <a:p>
            <a:pPr marL="342900" indent="-342900">
              <a:buFont typeface="Arial" panose="020B0604020202020204" pitchFamily="34" charset="0"/>
              <a:buChar char="•"/>
            </a:pPr>
            <a:r>
              <a:rPr lang="en-US" sz="2000" b="1" u="sng" dirty="0"/>
              <a:t>Access Control</a:t>
            </a:r>
            <a:r>
              <a:rPr lang="en-US" sz="2000" dirty="0"/>
              <a:t>: A vital component of the entire security plan involves </a:t>
            </a:r>
          </a:p>
          <a:p>
            <a:r>
              <a:rPr lang="en-US" sz="2000" dirty="0"/>
              <a:t>      access control. Implementing policies and procedures that regulate access </a:t>
            </a:r>
          </a:p>
          <a:p>
            <a:r>
              <a:rPr lang="en-US" sz="2000" dirty="0"/>
              <a:t>      to private data, premises, and digital resources is referred to as access </a:t>
            </a:r>
          </a:p>
          <a:p>
            <a:r>
              <a:rPr lang="en-US" sz="2000" dirty="0"/>
              <a:t>      control.</a:t>
            </a:r>
          </a:p>
          <a:p>
            <a:pPr marL="342900" indent="-342900">
              <a:buFont typeface="Arial" panose="020B0604020202020204" pitchFamily="34" charset="0"/>
              <a:buChar char="•"/>
            </a:pPr>
            <a:r>
              <a:rPr lang="en-US" sz="2000" b="1" u="sng" dirty="0"/>
              <a:t>Connection to CCTV</a:t>
            </a:r>
            <a:r>
              <a:rPr lang="en-US" sz="2000" dirty="0"/>
              <a:t>: Merely the fact that it's present highlights the </a:t>
            </a:r>
          </a:p>
          <a:p>
            <a:r>
              <a:rPr lang="en-US" sz="2000" dirty="0"/>
              <a:t>      significance surveillance technology is in recording and monitoring </a:t>
            </a:r>
          </a:p>
          <a:p>
            <a:r>
              <a:rPr lang="en-US" sz="2000" dirty="0"/>
              <a:t>      events to improve security and find feasible security gaps. The position of </a:t>
            </a:r>
          </a:p>
          <a:p>
            <a:r>
              <a:rPr lang="en-US" sz="2000" dirty="0"/>
              <a:t>      CCTV in the flowchart </a:t>
            </a:r>
            <a:r>
              <a:rPr lang="en-US" sz="2000" dirty="0" err="1"/>
              <a:t>emphasises</a:t>
            </a:r>
            <a:r>
              <a:rPr lang="en-US" sz="2000" dirty="0"/>
              <a:t> how important it is as a tool for in the moment </a:t>
            </a:r>
          </a:p>
          <a:p>
            <a:r>
              <a:rPr lang="en-US" sz="2000" dirty="0"/>
              <a:t>      observation and event research. </a:t>
            </a:r>
          </a:p>
          <a:p>
            <a:pPr marL="342900" indent="-342900">
              <a:buFont typeface="Arial" panose="020B0604020202020204" pitchFamily="34" charset="0"/>
              <a:buChar char="•"/>
            </a:pPr>
            <a:r>
              <a:rPr lang="en-US" sz="2000" b="1" u="sng" dirty="0"/>
              <a:t>CCTV</a:t>
            </a:r>
            <a:r>
              <a:rPr lang="en-US" sz="2000" dirty="0"/>
              <a:t>: CCTV(Closed-Circuit-Television) uses cameras and other video </a:t>
            </a:r>
          </a:p>
          <a:p>
            <a:r>
              <a:rPr lang="en-US" sz="2000" dirty="0"/>
              <a:t>      recording devices to record and keep an eye on activity in a specific area </a:t>
            </a:r>
          </a:p>
          <a:p>
            <a:r>
              <a:rPr lang="en-US" sz="2000" dirty="0"/>
              <a:t>      or place. To prevent crime, improve security, and document occurrences, </a:t>
            </a:r>
          </a:p>
          <a:p>
            <a:r>
              <a:rPr lang="en-US" sz="2000" dirty="0"/>
              <a:t>      CCTV cameras are frequently installed in a variety of settings, including </a:t>
            </a:r>
          </a:p>
          <a:p>
            <a:r>
              <a:rPr lang="en-US" sz="2000" dirty="0"/>
              <a:t>      workplaces, public areas, retail locations, and more.</a:t>
            </a:r>
          </a:p>
          <a:p>
            <a:endParaRPr lang="en-IN" sz="2000" dirty="0"/>
          </a:p>
        </p:txBody>
      </p:sp>
    </p:spTree>
    <p:extLst>
      <p:ext uri="{BB962C8B-B14F-4D97-AF65-F5344CB8AC3E}">
        <p14:creationId xmlns:p14="http://schemas.microsoft.com/office/powerpoint/2010/main" val="1974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B59815-DE78-9671-7EEA-24430DB0749E}"/>
              </a:ext>
            </a:extLst>
          </p:cNvPr>
          <p:cNvSpPr txBox="1"/>
          <p:nvPr/>
        </p:nvSpPr>
        <p:spPr>
          <a:xfrm>
            <a:off x="1053852" y="332656"/>
            <a:ext cx="10729192" cy="5632311"/>
          </a:xfrm>
          <a:prstGeom prst="rect">
            <a:avLst/>
          </a:prstGeom>
          <a:noFill/>
        </p:spPr>
        <p:txBody>
          <a:bodyPr wrap="square" rtlCol="0">
            <a:spAutoFit/>
          </a:bodyPr>
          <a:lstStyle/>
          <a:p>
            <a:pPr marL="342900" indent="-342900">
              <a:buFont typeface="Arial" panose="020B0604020202020204" pitchFamily="34" charset="0"/>
              <a:buChar char="•"/>
            </a:pPr>
            <a:r>
              <a:rPr lang="en-US" sz="2000" b="1" u="sng" dirty="0"/>
              <a:t>Connection to Security Staff</a:t>
            </a:r>
            <a:r>
              <a:rPr lang="en-US" sz="2000" dirty="0"/>
              <a:t>: The fact that it exists highlights the </a:t>
            </a:r>
          </a:p>
          <a:p>
            <a:r>
              <a:rPr lang="en-US" sz="2000" dirty="0"/>
              <a:t>      significance it is for an organization's security policy to include skilled </a:t>
            </a:r>
          </a:p>
          <a:p>
            <a:r>
              <a:rPr lang="en-US" sz="2000" dirty="0"/>
              <a:t>      security personnel. The positioning of security personnel inside the </a:t>
            </a:r>
          </a:p>
          <a:p>
            <a:r>
              <a:rPr lang="en-US" sz="2000" dirty="0"/>
              <a:t>      flowchart highlights their function in constantly tracking operations, </a:t>
            </a:r>
          </a:p>
          <a:p>
            <a:r>
              <a:rPr lang="en-US" sz="2000" dirty="0"/>
              <a:t>      responding to issues, and offering a human layer of protection in </a:t>
            </a:r>
          </a:p>
          <a:p>
            <a:r>
              <a:rPr lang="en-US" sz="2000" dirty="0"/>
              <a:t>      alongside technology.</a:t>
            </a:r>
          </a:p>
          <a:p>
            <a:pPr marL="342900" indent="-342900">
              <a:buFont typeface="Arial" panose="020B0604020202020204" pitchFamily="34" charset="0"/>
              <a:buChar char="•"/>
            </a:pPr>
            <a:r>
              <a:rPr lang="en-US" sz="2000" b="1" u="sng" dirty="0"/>
              <a:t>Security Staff</a:t>
            </a:r>
            <a:r>
              <a:rPr lang="en-US" sz="2000" dirty="0"/>
              <a:t>: Maintaining the safety and security of a physical site, </a:t>
            </a:r>
          </a:p>
          <a:p>
            <a:r>
              <a:rPr lang="en-US" sz="2000" dirty="0"/>
              <a:t>      assets, and people is the responsibility of security employees, who are </a:t>
            </a:r>
          </a:p>
          <a:p>
            <a:r>
              <a:rPr lang="en-US" sz="2000" dirty="0"/>
              <a:t>      qualified professionals. Security staff may be responsible for duties </a:t>
            </a:r>
          </a:p>
          <a:p>
            <a:r>
              <a:rPr lang="en-US" sz="2000" dirty="0"/>
              <a:t>      including keeping an eye on CCTV feeds, patrolling often, verifying </a:t>
            </a:r>
          </a:p>
          <a:p>
            <a:r>
              <a:rPr lang="en-US" sz="2000" dirty="0"/>
              <a:t>      people's identification, responding to alarms or incidents, as well as </a:t>
            </a:r>
          </a:p>
          <a:p>
            <a:r>
              <a:rPr lang="en-US" sz="2000" dirty="0"/>
              <a:t>      making sure security protocols are followed.</a:t>
            </a:r>
          </a:p>
          <a:p>
            <a:pPr marL="342900" indent="-342900">
              <a:buFont typeface="Arial" panose="020B0604020202020204" pitchFamily="34" charset="0"/>
              <a:buChar char="•"/>
            </a:pPr>
            <a:r>
              <a:rPr lang="en-US" sz="2000" b="1" u="sng" dirty="0"/>
              <a:t>Monitoring</a:t>
            </a:r>
            <a:r>
              <a:rPr lang="en-US" sz="2000" dirty="0"/>
              <a:t>: Monitoring is a methodical examination and assessment of </a:t>
            </a:r>
          </a:p>
          <a:p>
            <a:r>
              <a:rPr lang="en-US" sz="2000" dirty="0"/>
              <a:t>      numerous variables, including digital systems, physical spaces, and staff </a:t>
            </a:r>
          </a:p>
          <a:p>
            <a:r>
              <a:rPr lang="en-US" sz="2000" dirty="0"/>
              <a:t>      </a:t>
            </a:r>
            <a:r>
              <a:rPr lang="en-US" sz="2000" dirty="0" err="1"/>
              <a:t>behaviour</a:t>
            </a:r>
            <a:r>
              <a:rPr lang="en-US" sz="2000" dirty="0"/>
              <a:t>, inside an </a:t>
            </a:r>
            <a:r>
              <a:rPr lang="en-US" sz="2000" dirty="0" err="1"/>
              <a:t>organisation</a:t>
            </a:r>
            <a:r>
              <a:rPr lang="en-US" sz="2000" dirty="0"/>
              <a:t>. Monitoring's primary goal is to spot </a:t>
            </a:r>
          </a:p>
          <a:p>
            <a:r>
              <a:rPr lang="en-US" sz="2000" dirty="0"/>
              <a:t>      abnormalities and take action if they occur. This includes breaches of </a:t>
            </a:r>
          </a:p>
          <a:p>
            <a:r>
              <a:rPr lang="en-US" sz="2000" dirty="0"/>
              <a:t>      security, </a:t>
            </a:r>
            <a:r>
              <a:rPr lang="en-US" sz="2000" dirty="0" err="1"/>
              <a:t>unauthorised</a:t>
            </a:r>
            <a:r>
              <a:rPr lang="en-US" sz="2000" dirty="0"/>
              <a:t> entry, and other irregular measures that could pose </a:t>
            </a:r>
          </a:p>
          <a:p>
            <a:r>
              <a:rPr lang="en-US" sz="2000" dirty="0"/>
              <a:t>      a security hazard.</a:t>
            </a:r>
          </a:p>
        </p:txBody>
      </p:sp>
    </p:spTree>
    <p:extLst>
      <p:ext uri="{BB962C8B-B14F-4D97-AF65-F5344CB8AC3E}">
        <p14:creationId xmlns:p14="http://schemas.microsoft.com/office/powerpoint/2010/main" val="156095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A6564-8559-980F-FE5C-321C7CE56A7B}"/>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1A10A147-9BBD-5631-31E2-E9EEF178FC94}"/>
              </a:ext>
            </a:extLst>
          </p:cNvPr>
          <p:cNvSpPr>
            <a:spLocks noGrp="1"/>
          </p:cNvSpPr>
          <p:nvPr>
            <p:ph idx="1"/>
          </p:nvPr>
        </p:nvSpPr>
        <p:spPr/>
        <p:txBody>
          <a:bodyPr>
            <a:normAutofit/>
          </a:bodyPr>
          <a:lstStyle/>
          <a:p>
            <a:pPr marL="0" indent="0">
              <a:buNone/>
            </a:pPr>
            <a:r>
              <a:rPr lang="en-US" sz="2000" dirty="0"/>
              <a:t>The goal of the research of human factors in cybersecurity is to decrease </a:t>
            </a:r>
          </a:p>
          <a:p>
            <a:pPr marL="0" indent="0">
              <a:buNone/>
            </a:pPr>
            <a:r>
              <a:rPr lang="en-US" sz="2000" dirty="0"/>
              <a:t>human-caused mistakes and vulnerabilities by examining how human </a:t>
            </a:r>
          </a:p>
          <a:p>
            <a:pPr marL="0" indent="0">
              <a:buNone/>
            </a:pPr>
            <a:r>
              <a:rPr lang="en-US" sz="2000" dirty="0" err="1"/>
              <a:t>behaviour</a:t>
            </a:r>
            <a:r>
              <a:rPr lang="en-US" sz="2000" dirty="0"/>
              <a:t>, psychology, and technology combine. The study investigates </a:t>
            </a:r>
          </a:p>
          <a:p>
            <a:pPr marL="0" indent="0">
              <a:buNone/>
            </a:pPr>
            <a:r>
              <a:rPr lang="en-US" sz="2000" dirty="0"/>
              <a:t>different facets including user views towards security protocols, the function of </a:t>
            </a:r>
          </a:p>
          <a:p>
            <a:pPr marL="0" indent="0">
              <a:buNone/>
            </a:pPr>
            <a:r>
              <a:rPr lang="en-US" sz="2000" dirty="0" err="1"/>
              <a:t>organisational</a:t>
            </a:r>
            <a:r>
              <a:rPr lang="en-US" sz="2000" dirty="0"/>
              <a:t> culture in conformity, and the psychology behind attacks </a:t>
            </a:r>
          </a:p>
          <a:p>
            <a:pPr marL="0" indent="0">
              <a:buNone/>
            </a:pPr>
            <a:r>
              <a:rPr lang="en-US" sz="2000" dirty="0"/>
              <a:t>involving social engineering by using a multifaceted strategy that incorporates </a:t>
            </a:r>
          </a:p>
          <a:p>
            <a:pPr marL="0" indent="0">
              <a:buNone/>
            </a:pPr>
            <a:r>
              <a:rPr lang="en-US" sz="2000" dirty="0"/>
              <a:t>disciplines like psychology and human-computer interaction.</a:t>
            </a:r>
            <a:endParaRPr lang="en-IN" sz="2000" dirty="0"/>
          </a:p>
        </p:txBody>
      </p:sp>
    </p:spTree>
    <p:extLst>
      <p:ext uri="{BB962C8B-B14F-4D97-AF65-F5344CB8AC3E}">
        <p14:creationId xmlns:p14="http://schemas.microsoft.com/office/powerpoint/2010/main" val="2389802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1CBD6-A8AF-15F0-C87C-267AC7786802}"/>
              </a:ext>
            </a:extLst>
          </p:cNvPr>
          <p:cNvSpPr>
            <a:spLocks noGrp="1"/>
          </p:cNvSpPr>
          <p:nvPr>
            <p:ph type="title"/>
          </p:nvPr>
        </p:nvSpPr>
        <p:spPr>
          <a:xfrm>
            <a:off x="1218883" y="1916832"/>
            <a:ext cx="10360501" cy="2088232"/>
          </a:xfrm>
        </p:spPr>
        <p:txBody>
          <a:bodyPr/>
          <a:lstStyle/>
          <a:p>
            <a:pPr algn="ctr"/>
            <a:r>
              <a:rPr lang="en-IN" dirty="0"/>
              <a:t>THANK YOU</a:t>
            </a:r>
          </a:p>
        </p:txBody>
      </p:sp>
      <p:sp>
        <p:nvSpPr>
          <p:cNvPr id="3" name="Content Placeholder 2">
            <a:extLst>
              <a:ext uri="{FF2B5EF4-FFF2-40B4-BE49-F238E27FC236}">
                <a16:creationId xmlns:a16="http://schemas.microsoft.com/office/drawing/2014/main" id="{3849198A-8DC9-7EFD-6024-12887E00669F}"/>
              </a:ext>
            </a:extLst>
          </p:cNvPr>
          <p:cNvSpPr>
            <a:spLocks noGrp="1"/>
          </p:cNvSpPr>
          <p:nvPr>
            <p:ph idx="1"/>
          </p:nvPr>
        </p:nvSpPr>
        <p:spPr>
          <a:xfrm>
            <a:off x="1218883" y="4725144"/>
            <a:ext cx="10360501" cy="1438924"/>
          </a:xfrm>
        </p:spPr>
        <p:txBody>
          <a:bodyPr/>
          <a:lstStyle/>
          <a:p>
            <a:pPr marL="0" indent="0">
              <a:buNone/>
            </a:pPr>
            <a:endParaRPr lang="en-IN" dirty="0"/>
          </a:p>
        </p:txBody>
      </p:sp>
    </p:spTree>
    <p:extLst>
      <p:ext uri="{BB962C8B-B14F-4D97-AF65-F5344CB8AC3E}">
        <p14:creationId xmlns:p14="http://schemas.microsoft.com/office/powerpoint/2010/main" val="3162350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style.rotation</p:attrName>
                                        </p:attrNameLst>
                                      </p:cBhvr>
                                      <p:tavLst>
                                        <p:tav tm="0">
                                          <p:val>
                                            <p:fltVal val="0"/>
                                          </p:val>
                                        </p:tav>
                                        <p:tav tm="100000">
                                          <p:val>
                                            <p:fltVal val="90"/>
                                          </p:val>
                                        </p:tav>
                                      </p:tavLst>
                                    </p:anim>
                                    <p:animEffect transition="out" filter="fade">
                                      <p:cBhvr>
                                        <p:cTn id="9" dur="1000"/>
                                        <p:tgtEl>
                                          <p:spTgt spid="2"/>
                                        </p:tgtEl>
                                      </p:cBhvr>
                                    </p:animEffect>
                                    <p:set>
                                      <p:cBhvr>
                                        <p:cTn id="10"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6.2|1.9"/>
</p:tagLst>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3.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2198</TotalTime>
  <Words>3773</Words>
  <Application>Microsoft Office PowerPoint</Application>
  <PresentationFormat>Custom</PresentationFormat>
  <Paragraphs>321</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Google Sans</vt:lpstr>
      <vt:lpstr>Söhne</vt:lpstr>
      <vt:lpstr>Tech 16x9</vt:lpstr>
      <vt:lpstr>HUMAN FACTORS IN CYBER SECURITY</vt:lpstr>
      <vt:lpstr>INTRODUCTION</vt:lpstr>
      <vt:lpstr>RESEARCH MOTIVE</vt:lpstr>
      <vt:lpstr>RESEARCH MOTIVE (CONT..)</vt:lpstr>
      <vt:lpstr>ROLE OF SOCIAL ENGINEERING IN CYBER SECURITY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SOCIAL ENGINEERING ATTACK PREVENTION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FACTORS IN CYBER SECURITY</dc:title>
  <dc:creator>Harshiii</dc:creator>
  <cp:lastModifiedBy>Harshiii</cp:lastModifiedBy>
  <cp:revision>1</cp:revision>
  <dcterms:created xsi:type="dcterms:W3CDTF">2023-09-12T12:24:01Z</dcterms:created>
  <dcterms:modified xsi:type="dcterms:W3CDTF">2023-09-14T01:11:41Z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